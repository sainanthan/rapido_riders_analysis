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4" r:id="rId7"/>
    <p:sldId id="275" r:id="rId8"/>
    <p:sldId id="276" r:id="rId9"/>
    <p:sldId id="277" r:id="rId10"/>
    <p:sldId id="278" r:id="rId11"/>
    <p:sldId id="279" r:id="rId12"/>
    <p:sldId id="280" r:id="rId13"/>
    <p:sldId id="281" r:id="rId14"/>
    <p:sldId id="282" r:id="rId15"/>
    <p:sldId id="266" r:id="rId16"/>
    <p:sldId id="267" r:id="rId17"/>
    <p:sldId id="26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08" autoAdjust="0"/>
  </p:normalViewPr>
  <p:slideViewPr>
    <p:cSldViewPr>
      <p:cViewPr varScale="1">
        <p:scale>
          <a:sx n="82" d="100"/>
          <a:sy n="82" d="100"/>
        </p:scale>
        <p:origin x="-1474"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61E4EE1-4557-4F19-8C6B-5A3DEEE06C5E}"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1E4EE1-4557-4F19-8C6B-5A3DEEE06C5E}"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61E4EE1-4557-4F19-8C6B-5A3DEEE06C5E}"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61E4EE1-4557-4F19-8C6B-5A3DEEE06C5E}"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61E4EE1-4557-4F19-8C6B-5A3DEEE06C5E}" type="datetimeFigureOut">
              <a:rPr lang="en-US" smtClean="0"/>
              <a:pPr/>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61E4EE1-4557-4F19-8C6B-5A3DEEE06C5E}" type="datetimeFigureOut">
              <a:rPr lang="en-US" smtClean="0"/>
              <a:pPr/>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1E4EE1-4557-4F19-8C6B-5A3DEEE06C5E}" type="datetimeFigureOut">
              <a:rPr lang="en-US" smtClean="0"/>
              <a:pPr/>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1E4EE1-4557-4F19-8C6B-5A3DEEE06C5E}"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61E4EE1-4557-4F19-8C6B-5A3DEEE06C5E}" type="datetimeFigureOut">
              <a:rPr lang="en-US" smtClean="0"/>
              <a:pPr/>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1E4EE1-4557-4F19-8C6B-5A3DEEE06C5E}"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1E4EE1-4557-4F19-8C6B-5A3DEEE06C5E}" type="datetimeFigureOut">
              <a:rPr lang="en-US" smtClean="0"/>
              <a:pPr/>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1876C9-301F-4F2C-8F36-C563A9D2C6E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E4EE1-4557-4F19-8C6B-5A3DEEE06C5E}" type="datetimeFigureOut">
              <a:rPr lang="en-US" smtClean="0"/>
              <a:pPr/>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1876C9-301F-4F2C-8F36-C563A9D2C6E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195736" y="1556792"/>
            <a:ext cx="5040560" cy="677937"/>
          </a:xfrm>
        </p:spPr>
        <p:txBody>
          <a:bodyPr>
            <a:normAutofit/>
          </a:bodyPr>
          <a:lstStyle/>
          <a:p>
            <a:r>
              <a:rPr lang="en-US" sz="3600" b="1" dirty="0" smtClean="0">
                <a:latin typeface="Times New Roman" pitchFamily="18" charset="0"/>
                <a:cs typeface="Times New Roman" pitchFamily="18" charset="0"/>
              </a:rPr>
              <a:t>Riders Data Analysis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259632" y="2276872"/>
            <a:ext cx="7128792" cy="2160240"/>
          </a:xfrm>
        </p:spPr>
        <p:txBody>
          <a:bodyPr>
            <a:noAutofit/>
          </a:bodyPr>
          <a:lstStyle/>
          <a:p>
            <a:pPr marL="514350" indent="-514350" algn="l">
              <a:buFont typeface="+mj-lt"/>
              <a:buAutoNum type="arabicPeriod"/>
            </a:pPr>
            <a:r>
              <a:rPr lang="en-US" sz="2000" dirty="0" smtClean="0">
                <a:solidFill>
                  <a:schemeClr val="accent2">
                    <a:lumMod val="65000"/>
                    <a:lumOff val="35000"/>
                  </a:schemeClr>
                </a:solidFill>
                <a:latin typeface="Times New Roman" pitchFamily="18" charset="0"/>
                <a:cs typeface="Times New Roman" pitchFamily="18" charset="0"/>
              </a:rPr>
              <a:t>A comprehensive data-driven study analyzing ride performance, service efficiency, and customer trends using SQL and Power BI.</a:t>
            </a:r>
          </a:p>
          <a:p>
            <a:pPr marL="514350" indent="-514350" algn="l">
              <a:buFont typeface="+mj-lt"/>
              <a:buAutoNum type="arabicPeriod"/>
            </a:pPr>
            <a:r>
              <a:rPr lang="en-US" sz="2000" dirty="0" smtClean="0">
                <a:solidFill>
                  <a:schemeClr val="accent2">
                    <a:lumMod val="65000"/>
                    <a:lumOff val="35000"/>
                  </a:schemeClr>
                </a:solidFill>
                <a:latin typeface="Times New Roman" pitchFamily="18" charset="0"/>
                <a:cs typeface="Times New Roman" pitchFamily="18" charset="0"/>
              </a:rPr>
              <a:t>This project identifies key revenue patterns, cancellation behavior, and operational insights to help optimize business decisions.</a:t>
            </a:r>
            <a:endParaRPr lang="en-US" sz="2000" dirty="0">
              <a:solidFill>
                <a:schemeClr val="accent2">
                  <a:lumMod val="65000"/>
                  <a:lumOff val="35000"/>
                </a:schemeClr>
              </a:solidFill>
              <a:latin typeface="Times New Roman" pitchFamily="18" charset="0"/>
              <a:cs typeface="Times New Roman" pitchFamily="18"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pic>
        <p:nvPicPr>
          <p:cNvPr id="9" name="Picture 8" descr="Rapido-all-services-1-1.jpg"/>
          <p:cNvPicPr>
            <a:picLocks noChangeAspect="1"/>
          </p:cNvPicPr>
          <p:nvPr/>
        </p:nvPicPr>
        <p:blipFill>
          <a:blip r:embed="rId4" cstate="print"/>
          <a:stretch>
            <a:fillRect/>
          </a:stretch>
        </p:blipFill>
        <p:spPr>
          <a:xfrm>
            <a:off x="2483768" y="4293096"/>
            <a:ext cx="4427984" cy="24907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pic>
        <p:nvPicPr>
          <p:cNvPr id="9" name="Picture 8" descr="pngegg (34).png"/>
          <p:cNvPicPr>
            <a:picLocks noChangeAspect="1"/>
          </p:cNvPicPr>
          <p:nvPr/>
        </p:nvPicPr>
        <p:blipFill>
          <a:blip r:embed="rId2" cstate="print"/>
          <a:stretch>
            <a:fillRect/>
          </a:stretch>
        </p:blipFill>
        <p:spPr>
          <a:xfrm>
            <a:off x="6156176" y="4267165"/>
            <a:ext cx="2934741" cy="1970147"/>
          </a:xfrm>
          <a:prstGeom prst="rect">
            <a:avLst/>
          </a:prstGeom>
        </p:spPr>
      </p:pic>
      <p:sp>
        <p:nvSpPr>
          <p:cNvPr id="2" name="Title 1"/>
          <p:cNvSpPr>
            <a:spLocks noGrp="1"/>
          </p:cNvSpPr>
          <p:nvPr>
            <p:ph type="ctrTitle"/>
          </p:nvPr>
        </p:nvSpPr>
        <p:spPr>
          <a:xfrm>
            <a:off x="1907704" y="1556792"/>
            <a:ext cx="5040560" cy="677937"/>
          </a:xfrm>
        </p:spPr>
        <p:txBody>
          <a:bodyPr>
            <a:normAutofit/>
          </a:bodyPr>
          <a:lstStyle/>
          <a:p>
            <a:r>
              <a:rPr lang="en-US" sz="3600" b="1" dirty="0" smtClean="0">
                <a:latin typeface="Times New Roman" pitchFamily="18" charset="0"/>
                <a:cs typeface="Times New Roman" pitchFamily="18" charset="0"/>
              </a:rPr>
              <a:t>Overview</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1800" dirty="0" smtClean="0">
                <a:solidFill>
                  <a:schemeClr val="accent2">
                    <a:lumMod val="65000"/>
                    <a:lumOff val="35000"/>
                  </a:schemeClr>
                </a:solidFill>
                <a:latin typeface="Arial" pitchFamily="34" charset="0"/>
                <a:cs typeface="Arial" pitchFamily="34" charset="0"/>
              </a:rPr>
              <a:t>        The </a:t>
            </a:r>
            <a:r>
              <a:rPr lang="en-IN" sz="1800" dirty="0" err="1" smtClean="0">
                <a:solidFill>
                  <a:schemeClr val="accent2">
                    <a:lumMod val="65000"/>
                    <a:lumOff val="35000"/>
                  </a:schemeClr>
                </a:solidFill>
                <a:latin typeface="Arial" pitchFamily="34" charset="0"/>
                <a:cs typeface="Arial" pitchFamily="34" charset="0"/>
              </a:rPr>
              <a:t>rapido</a:t>
            </a:r>
            <a:r>
              <a:rPr lang="en-IN" sz="1800" dirty="0" smtClean="0">
                <a:solidFill>
                  <a:schemeClr val="accent2">
                    <a:lumMod val="65000"/>
                    <a:lumOff val="35000"/>
                  </a:schemeClr>
                </a:solidFill>
                <a:latin typeface="Arial" pitchFamily="34" charset="0"/>
                <a:cs typeface="Arial" pitchFamily="34" charset="0"/>
              </a:rPr>
              <a:t> riders data analysis project focus on understanding the overall ride performance, service revenue through data analytics. Using structured SQL queries, business insights were extracted to reveal peak hours, service performance, and operational bottlenecks. Power Bi dashboards were then  created to transform raw data into actionable visuals that aid strategic decision-making.</a:t>
            </a:r>
          </a:p>
          <a:p>
            <a:pPr marL="514350" indent="-514350" algn="just"/>
            <a:endParaRPr lang="en-IN" sz="1800" dirty="0">
              <a:solidFill>
                <a:schemeClr val="accent2">
                  <a:lumMod val="65000"/>
                  <a:lumOff val="35000"/>
                </a:schemeClr>
              </a:solidFill>
              <a:latin typeface="Arial" pitchFamily="34" charset="0"/>
              <a:cs typeface="Arial" pitchFamily="34" charset="0"/>
            </a:endParaRPr>
          </a:p>
          <a:p>
            <a:pPr marL="514350" indent="-514350" algn="just"/>
            <a:r>
              <a:rPr lang="en-IN" sz="1800" b="1" dirty="0" smtClean="0">
                <a:solidFill>
                  <a:schemeClr val="accent2">
                    <a:lumMod val="65000"/>
                    <a:lumOff val="35000"/>
                  </a:schemeClr>
                </a:solidFill>
                <a:latin typeface="Arial" pitchFamily="34" charset="0"/>
                <a:cs typeface="Arial" pitchFamily="34" charset="0"/>
              </a:rPr>
              <a:t>Tools Used:</a:t>
            </a:r>
          </a:p>
          <a:p>
            <a:pPr marL="514350" indent="-514350" algn="just"/>
            <a:r>
              <a:rPr lang="en-IN" sz="1800" b="1" dirty="0">
                <a:solidFill>
                  <a:schemeClr val="accent2">
                    <a:lumMod val="65000"/>
                    <a:lumOff val="35000"/>
                  </a:schemeClr>
                </a:solidFill>
                <a:latin typeface="Arial" pitchFamily="34" charset="0"/>
                <a:cs typeface="Arial" pitchFamily="34" charset="0"/>
              </a:rPr>
              <a:t>	</a:t>
            </a:r>
            <a:r>
              <a:rPr lang="en-US" sz="1600" b="1" dirty="0" smtClean="0">
                <a:solidFill>
                  <a:schemeClr val="accent2">
                    <a:lumMod val="65000"/>
                    <a:lumOff val="35000"/>
                  </a:schemeClr>
                </a:solidFill>
                <a:latin typeface="Arial" pitchFamily="34" charset="0"/>
                <a:cs typeface="Arial" pitchFamily="34" charset="0"/>
              </a:rPr>
              <a:t>SQL: </a:t>
            </a:r>
            <a:r>
              <a:rPr lang="en-US" sz="1600" dirty="0" smtClean="0">
                <a:solidFill>
                  <a:schemeClr val="bg2">
                    <a:lumMod val="25000"/>
                  </a:schemeClr>
                </a:solidFill>
                <a:latin typeface="Arial" pitchFamily="34" charset="0"/>
                <a:cs typeface="Arial" pitchFamily="34" charset="0"/>
              </a:rPr>
              <a:t>Database creation, cleaning, and transformations.</a:t>
            </a:r>
          </a:p>
          <a:p>
            <a:pPr marL="514350" indent="-514350" algn="just"/>
            <a:r>
              <a:rPr lang="en-US" sz="1600" b="1" dirty="0">
                <a:latin typeface="Arial" pitchFamily="34" charset="0"/>
                <a:cs typeface="Arial" pitchFamily="34" charset="0"/>
              </a:rPr>
              <a:t>	</a:t>
            </a:r>
            <a:r>
              <a:rPr lang="en-US" sz="1600" b="1" dirty="0" smtClean="0">
                <a:solidFill>
                  <a:schemeClr val="accent2">
                    <a:lumMod val="65000"/>
                    <a:lumOff val="35000"/>
                  </a:schemeClr>
                </a:solidFill>
                <a:latin typeface="Arial" pitchFamily="34" charset="0"/>
                <a:cs typeface="Arial" pitchFamily="34" charset="0"/>
              </a:rPr>
              <a:t>Power BI:</a:t>
            </a:r>
            <a:r>
              <a:rPr lang="en-US" sz="1600" dirty="0" smtClean="0">
                <a:solidFill>
                  <a:schemeClr val="accent2">
                    <a:lumMod val="65000"/>
                    <a:lumOff val="35000"/>
                  </a:schemeClr>
                </a:solidFill>
                <a:latin typeface="Arial" pitchFamily="34" charset="0"/>
                <a:cs typeface="Arial" pitchFamily="34" charset="0"/>
              </a:rPr>
              <a:t> </a:t>
            </a:r>
            <a:r>
              <a:rPr lang="en-US" sz="1600" dirty="0" smtClean="0">
                <a:solidFill>
                  <a:schemeClr val="bg2">
                    <a:lumMod val="25000"/>
                  </a:schemeClr>
                </a:solidFill>
                <a:latin typeface="Arial" pitchFamily="34" charset="0"/>
                <a:cs typeface="Arial" pitchFamily="34" charset="0"/>
              </a:rPr>
              <a:t>Dashboard design and interactive visualization.</a:t>
            </a:r>
          </a:p>
          <a:p>
            <a:pPr marL="514350" indent="-514350" algn="just"/>
            <a:r>
              <a:rPr lang="en-US" sz="1600" b="1" dirty="0">
                <a:latin typeface="Arial" pitchFamily="34" charset="0"/>
                <a:cs typeface="Arial" pitchFamily="34" charset="0"/>
              </a:rPr>
              <a:t>	</a:t>
            </a:r>
            <a:r>
              <a:rPr lang="en-US" sz="1600" b="1" dirty="0" smtClean="0">
                <a:solidFill>
                  <a:schemeClr val="accent2">
                    <a:lumMod val="65000"/>
                    <a:lumOff val="35000"/>
                  </a:schemeClr>
                </a:solidFill>
                <a:latin typeface="Arial" pitchFamily="34" charset="0"/>
                <a:cs typeface="Arial" pitchFamily="34" charset="0"/>
              </a:rPr>
              <a:t>Excel/CSV:</a:t>
            </a:r>
            <a:r>
              <a:rPr lang="en-US" sz="1600" dirty="0" smtClean="0">
                <a:solidFill>
                  <a:schemeClr val="accent2">
                    <a:lumMod val="65000"/>
                    <a:lumOff val="35000"/>
                  </a:schemeClr>
                </a:solidFill>
                <a:latin typeface="Arial" pitchFamily="34" charset="0"/>
                <a:cs typeface="Arial" pitchFamily="34" charset="0"/>
              </a:rPr>
              <a:t> </a:t>
            </a:r>
            <a:r>
              <a:rPr lang="en-US" sz="1600" dirty="0" smtClean="0">
                <a:solidFill>
                  <a:schemeClr val="bg2">
                    <a:lumMod val="25000"/>
                  </a:schemeClr>
                </a:solidFill>
                <a:latin typeface="Arial" pitchFamily="34" charset="0"/>
                <a:cs typeface="Arial" pitchFamily="34" charset="0"/>
              </a:rPr>
              <a:t>Data export from SQL for Power BI connection.</a:t>
            </a:r>
          </a:p>
          <a:p>
            <a:pPr marL="514350" indent="-514350" algn="just"/>
            <a:r>
              <a:rPr lang="en-US" sz="1600" b="1" dirty="0">
                <a:latin typeface="Arial" pitchFamily="34" charset="0"/>
                <a:cs typeface="Arial" pitchFamily="34" charset="0"/>
              </a:rPr>
              <a:t>	</a:t>
            </a:r>
            <a:r>
              <a:rPr lang="en-US" sz="1600" b="1" dirty="0" smtClean="0">
                <a:solidFill>
                  <a:schemeClr val="accent2">
                    <a:lumMod val="65000"/>
                    <a:lumOff val="35000"/>
                  </a:schemeClr>
                </a:solidFill>
                <a:latin typeface="Arial" pitchFamily="34" charset="0"/>
                <a:cs typeface="Arial" pitchFamily="34" charset="0"/>
              </a:rPr>
              <a:t>DAX &amp; Measures:</a:t>
            </a:r>
            <a:r>
              <a:rPr lang="en-US" sz="1600" dirty="0" smtClean="0">
                <a:solidFill>
                  <a:schemeClr val="accent2">
                    <a:lumMod val="65000"/>
                    <a:lumOff val="35000"/>
                  </a:schemeClr>
                </a:solidFill>
                <a:latin typeface="Arial" pitchFamily="34" charset="0"/>
                <a:cs typeface="Arial" pitchFamily="34" charset="0"/>
              </a:rPr>
              <a:t> </a:t>
            </a:r>
            <a:r>
              <a:rPr lang="en-US" sz="1600" dirty="0" smtClean="0">
                <a:solidFill>
                  <a:schemeClr val="bg2">
                    <a:lumMod val="25000"/>
                  </a:schemeClr>
                </a:solidFill>
                <a:latin typeface="Arial" pitchFamily="34" charset="0"/>
                <a:cs typeface="Arial" pitchFamily="34" charset="0"/>
              </a:rPr>
              <a:t>For advanced calculations and dynamic </a:t>
            </a:r>
            <a:endParaRPr lang="en-US" sz="1600" dirty="0" smtClean="0">
              <a:solidFill>
                <a:schemeClr val="bg2">
                  <a:lumMod val="25000"/>
                </a:schemeClr>
              </a:solidFill>
              <a:latin typeface="Arial" pitchFamily="34" charset="0"/>
              <a:cs typeface="Arial" pitchFamily="34" charset="0"/>
            </a:endParaRPr>
          </a:p>
          <a:p>
            <a:pPr marL="514350" indent="-514350" algn="just"/>
            <a:r>
              <a:rPr lang="en-US" sz="1600" dirty="0" smtClean="0">
                <a:solidFill>
                  <a:schemeClr val="bg2">
                    <a:lumMod val="25000"/>
                  </a:schemeClr>
                </a:solidFill>
                <a:latin typeface="Arial" pitchFamily="34" charset="0"/>
                <a:cs typeface="Arial" pitchFamily="34" charset="0"/>
              </a:rPr>
              <a:t> </a:t>
            </a:r>
            <a:r>
              <a:rPr lang="en-US" sz="1600" dirty="0" smtClean="0">
                <a:solidFill>
                  <a:schemeClr val="bg2">
                    <a:lumMod val="25000"/>
                  </a:schemeClr>
                </a:solidFill>
                <a:latin typeface="Arial" pitchFamily="34" charset="0"/>
                <a:cs typeface="Arial" pitchFamily="34" charset="0"/>
              </a:rPr>
              <a:t>                                       </a:t>
            </a:r>
            <a:r>
              <a:rPr lang="en-US" sz="1600" dirty="0" smtClean="0">
                <a:solidFill>
                  <a:schemeClr val="bg2">
                    <a:lumMod val="25000"/>
                  </a:schemeClr>
                </a:solidFill>
                <a:latin typeface="Arial" pitchFamily="34" charset="0"/>
                <a:cs typeface="Arial" pitchFamily="34" charset="0"/>
              </a:rPr>
              <a:t>filtering</a:t>
            </a:r>
            <a:r>
              <a:rPr lang="en-US" sz="1600" dirty="0" smtClean="0">
                <a:solidFill>
                  <a:schemeClr val="bg2">
                    <a:lumMod val="25000"/>
                  </a:schemeClr>
                </a:solidFill>
                <a:latin typeface="Arial" pitchFamily="34" charset="0"/>
                <a:cs typeface="Arial" pitchFamily="34" charset="0"/>
              </a:rPr>
              <a:t>.</a:t>
            </a:r>
          </a:p>
          <a:p>
            <a:pPr marL="514350" indent="-514350" algn="just"/>
            <a:endParaRPr lang="en-IN" sz="1800" b="1" dirty="0" smtClean="0">
              <a:solidFill>
                <a:schemeClr val="accent2">
                  <a:lumMod val="65000"/>
                  <a:lumOff val="35000"/>
                </a:schemeClr>
              </a:solidFill>
              <a:latin typeface="Arial" pitchFamily="34" charset="0"/>
              <a:cs typeface="Arial" pitchFamily="34" charset="0"/>
            </a:endParaRPr>
          </a:p>
          <a:p>
            <a:pPr marL="514350" indent="-514350" algn="just"/>
            <a:endParaRPr lang="en-IN" sz="1800" dirty="0">
              <a:solidFill>
                <a:schemeClr val="accent2">
                  <a:lumMod val="65000"/>
                  <a:lumOff val="35000"/>
                </a:schemeClr>
              </a:solidFill>
              <a:latin typeface="Arial" pitchFamily="34" charset="0"/>
              <a:cs typeface="Arial" pitchFamily="34" charset="0"/>
            </a:endParaRPr>
          </a:p>
          <a:p>
            <a:pPr marL="514350" indent="-514350" algn="just"/>
            <a:endParaRPr lang="en-IN" sz="1800" dirty="0" smtClean="0">
              <a:solidFill>
                <a:schemeClr val="accent2">
                  <a:lumMod val="65000"/>
                  <a:lumOff val="35000"/>
                </a:schemeClr>
              </a:solidFill>
              <a:latin typeface="Arial" pitchFamily="34" charset="0"/>
              <a:cs typeface="Arial" pitchFamily="34" charset="0"/>
            </a:endParaRPr>
          </a:p>
          <a:p>
            <a:pPr marL="514350" indent="-514350" algn="just"/>
            <a:endParaRPr lang="en-US" sz="1800" dirty="0">
              <a:solidFill>
                <a:schemeClr val="accent2">
                  <a:lumMod val="65000"/>
                  <a:lumOff val="35000"/>
                </a:schemeClr>
              </a:solidFill>
              <a:latin typeface="Arial" pitchFamily="34" charset="0"/>
              <a:cs typeface="Arial" pitchFamily="34" charset="0"/>
            </a:endParaRPr>
          </a:p>
        </p:txBody>
      </p:sp>
      <p:pic>
        <p:nvPicPr>
          <p:cNvPr id="6" name="Picture 5" descr="images-removebg-preview.png"/>
          <p:cNvPicPr>
            <a:picLocks noChangeAspect="1"/>
          </p:cNvPicPr>
          <p:nvPr/>
        </p:nvPicPr>
        <p:blipFill>
          <a:blip r:embed="rId3"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4" cstate="print"/>
          <a:stretch>
            <a:fillRect/>
          </a:stretch>
        </p:blipFill>
        <p:spPr>
          <a:xfrm>
            <a:off x="3347864" y="116632"/>
            <a:ext cx="2209800" cy="1325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1556792"/>
            <a:ext cx="6120680" cy="677937"/>
          </a:xfrm>
        </p:spPr>
        <p:txBody>
          <a:bodyPr>
            <a:noAutofit/>
          </a:bodyPr>
          <a:lstStyle/>
          <a:p>
            <a:r>
              <a:rPr lang="en-US" sz="3600" b="1" dirty="0" smtClean="0">
                <a:latin typeface="Times New Roman" pitchFamily="18" charset="0"/>
                <a:cs typeface="Times New Roman" pitchFamily="18" charset="0"/>
              </a:rPr>
              <a:t>Data Preparation Workflow</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348880"/>
            <a:ext cx="8676456" cy="4032448"/>
          </a:xfrm>
        </p:spPr>
        <p:txBody>
          <a:bodyPr>
            <a:noAutofit/>
          </a:bodyPr>
          <a:lstStyle/>
          <a:p>
            <a:pPr marL="514350" indent="-514350" algn="just"/>
            <a:r>
              <a:rPr lang="en-IN" sz="1800" dirty="0" smtClean="0">
                <a:solidFill>
                  <a:schemeClr val="accent2">
                    <a:lumMod val="65000"/>
                    <a:lumOff val="35000"/>
                  </a:schemeClr>
                </a:solidFill>
                <a:latin typeface="Arial" pitchFamily="34" charset="0"/>
                <a:cs typeface="Arial" pitchFamily="34" charset="0"/>
              </a:rPr>
              <a:t> </a:t>
            </a:r>
            <a:endParaRPr lang="en-US" sz="1800" dirty="0" smtClean="0">
              <a:solidFill>
                <a:schemeClr val="bg2">
                  <a:lumMod val="25000"/>
                </a:schemeClr>
              </a:solidFill>
              <a:latin typeface="Arial" pitchFamily="34" charset="0"/>
              <a:cs typeface="Arial" pitchFamily="34" charset="0"/>
            </a:endParaRPr>
          </a:p>
          <a:p>
            <a:pPr marL="514350" indent="-514350" algn="just"/>
            <a:endParaRPr lang="en-IN" sz="1800" b="1" dirty="0" smtClean="0">
              <a:solidFill>
                <a:schemeClr val="accent2">
                  <a:lumMod val="65000"/>
                  <a:lumOff val="35000"/>
                </a:schemeClr>
              </a:solidFill>
              <a:latin typeface="Arial" pitchFamily="34" charset="0"/>
              <a:cs typeface="Arial" pitchFamily="34" charset="0"/>
            </a:endParaRPr>
          </a:p>
          <a:p>
            <a:pPr marL="514350" indent="-514350" algn="just"/>
            <a:endParaRPr lang="en-IN" sz="1800" dirty="0">
              <a:solidFill>
                <a:schemeClr val="accent2">
                  <a:lumMod val="65000"/>
                  <a:lumOff val="35000"/>
                </a:schemeClr>
              </a:solidFill>
              <a:latin typeface="Arial" pitchFamily="34" charset="0"/>
              <a:cs typeface="Arial" pitchFamily="34" charset="0"/>
            </a:endParaRPr>
          </a:p>
          <a:p>
            <a:pPr marL="514350" indent="-514350" algn="just"/>
            <a:endParaRPr lang="en-IN" sz="1800" dirty="0" smtClean="0">
              <a:solidFill>
                <a:schemeClr val="accent2">
                  <a:lumMod val="65000"/>
                  <a:lumOff val="35000"/>
                </a:schemeClr>
              </a:solidFill>
              <a:latin typeface="Arial" pitchFamily="34" charset="0"/>
              <a:cs typeface="Arial" pitchFamily="34" charset="0"/>
            </a:endParaRPr>
          </a:p>
          <a:p>
            <a:pPr marL="514350" indent="-514350" algn="just"/>
            <a:endParaRPr lang="en-US" sz="1800" dirty="0">
              <a:solidFill>
                <a:schemeClr val="accent2">
                  <a:lumMod val="65000"/>
                  <a:lumOff val="35000"/>
                </a:schemeClr>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sp>
        <p:nvSpPr>
          <p:cNvPr id="8" name="Rounded Rectangle 7"/>
          <p:cNvSpPr/>
          <p:nvPr/>
        </p:nvSpPr>
        <p:spPr>
          <a:xfrm>
            <a:off x="323528" y="2492896"/>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Database Creation</a:t>
            </a:r>
            <a:endParaRPr lang="en-US" sz="1600" dirty="0">
              <a:solidFill>
                <a:schemeClr val="tx1"/>
              </a:solidFill>
              <a:latin typeface="Arial" pitchFamily="34" charset="0"/>
              <a:cs typeface="Arial" pitchFamily="34" charset="0"/>
            </a:endParaRPr>
          </a:p>
        </p:txBody>
      </p:sp>
      <p:sp>
        <p:nvSpPr>
          <p:cNvPr id="9" name="Rounded Rectangle 8"/>
          <p:cNvSpPr/>
          <p:nvPr/>
        </p:nvSpPr>
        <p:spPr>
          <a:xfrm>
            <a:off x="6372200" y="2492896"/>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Data Cleaning</a:t>
            </a:r>
            <a:endParaRPr lang="en-US" sz="1600" dirty="0">
              <a:solidFill>
                <a:schemeClr val="tx1"/>
              </a:solidFill>
              <a:latin typeface="Arial" pitchFamily="34" charset="0"/>
              <a:cs typeface="Arial" pitchFamily="34" charset="0"/>
            </a:endParaRPr>
          </a:p>
        </p:txBody>
      </p:sp>
      <p:sp>
        <p:nvSpPr>
          <p:cNvPr id="10" name="Rounded Rectangle 9"/>
          <p:cNvSpPr/>
          <p:nvPr/>
        </p:nvSpPr>
        <p:spPr>
          <a:xfrm>
            <a:off x="3275856" y="2492896"/>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Table  creation &amp; Data Import</a:t>
            </a:r>
            <a:endParaRPr lang="en-US" sz="1600" dirty="0">
              <a:solidFill>
                <a:schemeClr val="tx1"/>
              </a:solidFill>
              <a:latin typeface="Arial" pitchFamily="34" charset="0"/>
              <a:cs typeface="Arial" pitchFamily="34" charset="0"/>
            </a:endParaRPr>
          </a:p>
        </p:txBody>
      </p:sp>
      <p:sp>
        <p:nvSpPr>
          <p:cNvPr id="11" name="Rounded Rectangle 10"/>
          <p:cNvSpPr/>
          <p:nvPr/>
        </p:nvSpPr>
        <p:spPr>
          <a:xfrm>
            <a:off x="6372200" y="5661344"/>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Dashboard &amp; Insights</a:t>
            </a:r>
            <a:endParaRPr lang="en-US" sz="1600" dirty="0">
              <a:solidFill>
                <a:schemeClr val="tx1"/>
              </a:solidFill>
              <a:latin typeface="Arial" pitchFamily="34" charset="0"/>
              <a:cs typeface="Arial" pitchFamily="34" charset="0"/>
            </a:endParaRPr>
          </a:p>
        </p:txBody>
      </p:sp>
      <p:sp>
        <p:nvSpPr>
          <p:cNvPr id="12" name="Rounded Rectangle 11"/>
          <p:cNvSpPr/>
          <p:nvPr/>
        </p:nvSpPr>
        <p:spPr>
          <a:xfrm>
            <a:off x="3275856" y="5661344"/>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Data Transformation</a:t>
            </a:r>
            <a:endParaRPr lang="en-US" sz="1600" dirty="0">
              <a:solidFill>
                <a:schemeClr val="tx1"/>
              </a:solidFill>
              <a:latin typeface="Arial" pitchFamily="34" charset="0"/>
              <a:cs typeface="Arial" pitchFamily="34" charset="0"/>
            </a:endParaRPr>
          </a:p>
        </p:txBody>
      </p:sp>
      <p:sp>
        <p:nvSpPr>
          <p:cNvPr id="13" name="Rounded Rectangle 12"/>
          <p:cNvSpPr/>
          <p:nvPr/>
        </p:nvSpPr>
        <p:spPr>
          <a:xfrm>
            <a:off x="323528" y="5661344"/>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Export to Power BI </a:t>
            </a:r>
            <a:endParaRPr lang="en-US" sz="1600" dirty="0">
              <a:solidFill>
                <a:schemeClr val="tx1"/>
              </a:solidFill>
              <a:latin typeface="Arial" pitchFamily="34" charset="0"/>
              <a:cs typeface="Arial" pitchFamily="34" charset="0"/>
            </a:endParaRPr>
          </a:p>
        </p:txBody>
      </p:sp>
      <p:sp>
        <p:nvSpPr>
          <p:cNvPr id="14" name="Rounded Rectangle 13"/>
          <p:cNvSpPr/>
          <p:nvPr/>
        </p:nvSpPr>
        <p:spPr>
          <a:xfrm>
            <a:off x="3275856" y="4077072"/>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Feature Engineering </a:t>
            </a:r>
            <a:endParaRPr lang="en-US" sz="1600" dirty="0">
              <a:solidFill>
                <a:schemeClr val="tx1"/>
              </a:solidFill>
              <a:latin typeface="Arial" pitchFamily="34" charset="0"/>
              <a:cs typeface="Arial" pitchFamily="34" charset="0"/>
            </a:endParaRPr>
          </a:p>
        </p:txBody>
      </p:sp>
      <p:sp>
        <p:nvSpPr>
          <p:cNvPr id="15" name="Rounded Rectangle 14"/>
          <p:cNvSpPr/>
          <p:nvPr/>
        </p:nvSpPr>
        <p:spPr>
          <a:xfrm>
            <a:off x="6372200" y="4077168"/>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EDA </a:t>
            </a:r>
            <a:endParaRPr lang="en-US" sz="1600" dirty="0">
              <a:solidFill>
                <a:schemeClr val="tx1"/>
              </a:solidFill>
              <a:latin typeface="Arial" pitchFamily="34" charset="0"/>
              <a:cs typeface="Arial" pitchFamily="34" charset="0"/>
            </a:endParaRPr>
          </a:p>
        </p:txBody>
      </p:sp>
      <p:sp>
        <p:nvSpPr>
          <p:cNvPr id="16" name="Rounded Rectangle 15"/>
          <p:cNvSpPr/>
          <p:nvPr/>
        </p:nvSpPr>
        <p:spPr>
          <a:xfrm>
            <a:off x="323528" y="4077072"/>
            <a:ext cx="2088232" cy="86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latin typeface="Arial" pitchFamily="34" charset="0"/>
                <a:cs typeface="Arial" pitchFamily="34" charset="0"/>
              </a:rPr>
              <a:t>Store Procedure </a:t>
            </a:r>
            <a:endParaRPr lang="en-US" sz="1600" dirty="0">
              <a:solidFill>
                <a:schemeClr val="tx1"/>
              </a:solidFill>
              <a:latin typeface="Arial" pitchFamily="34" charset="0"/>
              <a:cs typeface="Arial" pitchFamily="34" charset="0"/>
            </a:endParaRPr>
          </a:p>
        </p:txBody>
      </p:sp>
      <p:sp>
        <p:nvSpPr>
          <p:cNvPr id="17" name="Right Arrow 16"/>
          <p:cNvSpPr/>
          <p:nvPr/>
        </p:nvSpPr>
        <p:spPr>
          <a:xfrm>
            <a:off x="2555776" y="2780928"/>
            <a:ext cx="648072" cy="360040"/>
          </a:xfrm>
          <a:prstGeom prst="right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ight Arrow 17"/>
          <p:cNvSpPr/>
          <p:nvPr/>
        </p:nvSpPr>
        <p:spPr>
          <a:xfrm>
            <a:off x="5508104" y="2780928"/>
            <a:ext cx="648072" cy="360040"/>
          </a:xfrm>
          <a:prstGeom prst="right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5580112" y="5877272"/>
            <a:ext cx="648072" cy="360040"/>
          </a:xfrm>
          <a:prstGeom prst="right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2555776" y="5877272"/>
            <a:ext cx="648072" cy="360040"/>
          </a:xfrm>
          <a:prstGeom prst="right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2555776" y="4365104"/>
            <a:ext cx="576064" cy="360040"/>
          </a:xfrm>
          <a:prstGeom prst="left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Left Arrow 21"/>
          <p:cNvSpPr/>
          <p:nvPr/>
        </p:nvSpPr>
        <p:spPr>
          <a:xfrm>
            <a:off x="5508104" y="4365104"/>
            <a:ext cx="576064" cy="360040"/>
          </a:xfrm>
          <a:prstGeom prst="left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a:off x="7236296" y="3501008"/>
            <a:ext cx="432048" cy="504056"/>
          </a:xfrm>
          <a:prstGeom prst="down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own Arrow 23"/>
          <p:cNvSpPr/>
          <p:nvPr/>
        </p:nvSpPr>
        <p:spPr>
          <a:xfrm>
            <a:off x="1043608" y="5085184"/>
            <a:ext cx="432048" cy="504056"/>
          </a:xfrm>
          <a:prstGeom prst="downArrow">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71600" y="1556792"/>
            <a:ext cx="6984776" cy="677937"/>
          </a:xfrm>
        </p:spPr>
        <p:txBody>
          <a:bodyPr>
            <a:normAutofit/>
          </a:bodyPr>
          <a:lstStyle/>
          <a:p>
            <a:r>
              <a:rPr lang="en-US" sz="3600" b="1"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Business Problems Analyzed</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35496" y="2420888"/>
            <a:ext cx="7776864" cy="4104456"/>
          </a:xfrm>
        </p:spPr>
        <p:txBody>
          <a:bodyPr>
            <a:noAutofit/>
          </a:bodyPr>
          <a:lstStyle/>
          <a:p>
            <a:pPr marL="514350" indent="-514350" algn="just"/>
            <a:r>
              <a:rPr lang="en-US" sz="2400" b="1" dirty="0" smtClean="0">
                <a:solidFill>
                  <a:schemeClr val="tx1"/>
                </a:solidFill>
                <a:latin typeface="Times New Roman" pitchFamily="18" charset="0"/>
                <a:cs typeface="Times New Roman" pitchFamily="18" charset="0"/>
              </a:rPr>
              <a:t> Top </a:t>
            </a:r>
            <a:r>
              <a:rPr lang="en-US" sz="2400" b="1" dirty="0" smtClean="0">
                <a:solidFill>
                  <a:schemeClr val="tx1"/>
                </a:solidFill>
                <a:latin typeface="Times New Roman" pitchFamily="18" charset="0"/>
                <a:cs typeface="Times New Roman" pitchFamily="18" charset="0"/>
              </a:rPr>
              <a:t>10 Business Questions</a:t>
            </a:r>
            <a:r>
              <a:rPr lang="en-US" sz="2400" b="1" dirty="0" smtClean="0">
                <a:solidFill>
                  <a:schemeClr val="tx1"/>
                </a:solidFill>
                <a:latin typeface="Times New Roman" pitchFamily="18" charset="0"/>
                <a:cs typeface="Times New Roman" pitchFamily="18" charset="0"/>
              </a:rPr>
              <a:t>:</a:t>
            </a: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What are the total rides </a:t>
            </a:r>
            <a:r>
              <a:rPr lang="en-US" sz="1800" dirty="0" smtClean="0">
                <a:solidFill>
                  <a:srgbClr val="C00000"/>
                </a:solidFill>
                <a:latin typeface="Arial" pitchFamily="34" charset="0"/>
                <a:cs typeface="Arial" pitchFamily="34" charset="0"/>
              </a:rPr>
              <a:t>&amp; </a:t>
            </a:r>
            <a:r>
              <a:rPr lang="en-US" sz="1800" dirty="0" smtClean="0">
                <a:solidFill>
                  <a:srgbClr val="C00000"/>
                </a:solidFill>
                <a:latin typeface="Arial" pitchFamily="34" charset="0"/>
                <a:cs typeface="Arial" pitchFamily="34" charset="0"/>
              </a:rPr>
              <a:t>total revenue generated?</a:t>
            </a: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What is the ratio of completed </a:t>
            </a:r>
            <a:r>
              <a:rPr lang="en-US" sz="1800" dirty="0" err="1" smtClean="0">
                <a:solidFill>
                  <a:srgbClr val="C00000"/>
                </a:solidFill>
                <a:latin typeface="Arial" pitchFamily="34" charset="0"/>
                <a:cs typeface="Arial" pitchFamily="34" charset="0"/>
              </a:rPr>
              <a:t>vs</a:t>
            </a:r>
            <a:r>
              <a:rPr lang="en-US" sz="1800" dirty="0" smtClean="0">
                <a:solidFill>
                  <a:srgbClr val="C00000"/>
                </a:solidFill>
                <a:latin typeface="Arial" pitchFamily="34" charset="0"/>
                <a:cs typeface="Arial" pitchFamily="34" charset="0"/>
              </a:rPr>
              <a:t> cancelled rides</a:t>
            </a:r>
            <a:r>
              <a:rPr lang="en-US" sz="1800" dirty="0" smtClean="0">
                <a:solidFill>
                  <a:srgbClr val="C00000"/>
                </a:solidFill>
                <a:latin typeface="Arial" pitchFamily="34" charset="0"/>
                <a:cs typeface="Arial" pitchFamily="34" charset="0"/>
              </a:rPr>
              <a:t>?</a:t>
            </a: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Which services contribute most to revenue?</a:t>
            </a:r>
            <a:endParaRPr lang="en-US" sz="1800" dirty="0" smtClean="0">
              <a:solidFill>
                <a:srgbClr val="C00000"/>
              </a:solidFill>
              <a:latin typeface="Arial" pitchFamily="34" charset="0"/>
              <a:cs typeface="Arial" pitchFamily="34" charset="0"/>
            </a:endParaRP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What is the average fare per kilometer by service type?</a:t>
            </a: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What are the peak ride hours during the </a:t>
            </a:r>
            <a:r>
              <a:rPr lang="en-US" sz="1800" dirty="0" smtClean="0">
                <a:solidFill>
                  <a:srgbClr val="C00000"/>
                </a:solidFill>
                <a:latin typeface="Arial" pitchFamily="34" charset="0"/>
                <a:cs typeface="Arial" pitchFamily="34" charset="0"/>
              </a:rPr>
              <a:t>day?</a:t>
            </a: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Which days of the week are the busiest?</a:t>
            </a:r>
            <a:endParaRPr lang="en-US" sz="1800" dirty="0" smtClean="0">
              <a:solidFill>
                <a:srgbClr val="C00000"/>
              </a:solidFill>
              <a:latin typeface="Arial" pitchFamily="34" charset="0"/>
              <a:cs typeface="Arial" pitchFamily="34" charset="0"/>
            </a:endParaRPr>
          </a:p>
          <a:p>
            <a:pPr marL="971550" lvl="1" indent="-514350" algn="just">
              <a:buFont typeface="+mj-lt"/>
              <a:buAutoNum type="arabicPeriod"/>
            </a:pPr>
            <a:r>
              <a:rPr lang="en-US" sz="1800" dirty="0" smtClean="0">
                <a:solidFill>
                  <a:srgbClr val="C00000"/>
                </a:solidFill>
                <a:latin typeface="Arial" pitchFamily="34" charset="0"/>
                <a:cs typeface="Arial" pitchFamily="34" charset="0"/>
              </a:rPr>
              <a:t>How much revenue is lost due to cancellations?</a:t>
            </a:r>
            <a:endParaRPr lang="en-US" sz="1800" dirty="0" smtClean="0">
              <a:solidFill>
                <a:srgbClr val="C00000"/>
              </a:solidFill>
              <a:latin typeface="Arial" pitchFamily="34" charset="0"/>
              <a:cs typeface="Arial" pitchFamily="34" charset="0"/>
            </a:endParaRP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What are the top payment methods among riders?</a:t>
            </a:r>
            <a:endParaRPr lang="en-US" sz="1800" dirty="0" smtClean="0">
              <a:solidFill>
                <a:srgbClr val="C00000"/>
              </a:solidFill>
              <a:latin typeface="Arial" pitchFamily="34" charset="0"/>
              <a:cs typeface="Arial" pitchFamily="34" charset="0"/>
            </a:endParaRP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Which are the most frequent source-destination routes?</a:t>
            </a:r>
            <a:endParaRPr lang="en-US" sz="1800" dirty="0" smtClean="0">
              <a:solidFill>
                <a:srgbClr val="C00000"/>
              </a:solidFill>
              <a:latin typeface="Arial" pitchFamily="34" charset="0"/>
              <a:cs typeface="Arial" pitchFamily="34" charset="0"/>
            </a:endParaRPr>
          </a:p>
          <a:p>
            <a:pPr marL="971550" lvl="1" indent="-514350" algn="just">
              <a:buFont typeface="+mj-lt"/>
              <a:buAutoNum type="arabicPeriod"/>
            </a:pPr>
            <a:r>
              <a:rPr lang="en-US" sz="1800" dirty="0" smtClean="0">
                <a:solidFill>
                  <a:srgbClr val="C00000"/>
                </a:solidFill>
                <a:latin typeface="Arial" pitchFamily="34" charset="0"/>
                <a:cs typeface="Arial" pitchFamily="34" charset="0"/>
              </a:rPr>
              <a:t>What is the average ride duration and distance by service?</a:t>
            </a:r>
            <a:endParaRPr lang="en-IN" sz="1800" dirty="0" smtClean="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pic>
        <p:nvPicPr>
          <p:cNvPr id="8" name="Picture 7" descr="pngegg (33).png"/>
          <p:cNvPicPr>
            <a:picLocks noChangeAspect="1"/>
          </p:cNvPicPr>
          <p:nvPr/>
        </p:nvPicPr>
        <p:blipFill>
          <a:blip r:embed="rId4" cstate="print"/>
          <a:stretch>
            <a:fillRect/>
          </a:stretch>
        </p:blipFill>
        <p:spPr>
          <a:xfrm>
            <a:off x="6444208" y="2852936"/>
            <a:ext cx="2749312" cy="27493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99592" y="1412776"/>
            <a:ext cx="7200800" cy="677937"/>
          </a:xfrm>
        </p:spPr>
        <p:txBody>
          <a:bodyPr>
            <a:noAutofit/>
          </a:bodyPr>
          <a:lstStyle/>
          <a:p>
            <a:r>
              <a:rPr lang="en-US" sz="3600" b="1" dirty="0" smtClean="0">
                <a:latin typeface="Times New Roman" pitchFamily="18" charset="0"/>
                <a:cs typeface="Times New Roman" pitchFamily="18" charset="0"/>
              </a:rPr>
              <a:t>Q1 — Total Rides &amp; Total Revenue</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Find the overall number of rides and total revenue to measure </a:t>
            </a:r>
            <a:r>
              <a:rPr lang="en-US" sz="1600" dirty="0" err="1" smtClean="0">
                <a:solidFill>
                  <a:srgbClr val="C00000"/>
                </a:solidFill>
                <a:latin typeface="Arial" pitchFamily="34" charset="0"/>
                <a:cs typeface="Arial" pitchFamily="34" charset="0"/>
              </a:rPr>
              <a:t>Rapido’s</a:t>
            </a:r>
            <a:r>
              <a:rPr lang="en-US" sz="1600" dirty="0" smtClean="0">
                <a:solidFill>
                  <a:srgbClr val="C00000"/>
                </a:solidFill>
                <a:latin typeface="Arial" pitchFamily="34" charset="0"/>
                <a:cs typeface="Arial" pitchFamily="34" charset="0"/>
              </a:rPr>
              <a:t> performance.</a:t>
            </a:r>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pic>
        <p:nvPicPr>
          <p:cNvPr id="8" name="Picture 7" descr="Total rides&amp;total revenue.png"/>
          <p:cNvPicPr>
            <a:picLocks noChangeAspect="1"/>
          </p:cNvPicPr>
          <p:nvPr/>
        </p:nvPicPr>
        <p:blipFill>
          <a:blip r:embed="rId4" cstate="print"/>
          <a:stretch>
            <a:fillRect/>
          </a:stretch>
        </p:blipFill>
        <p:spPr>
          <a:xfrm>
            <a:off x="323528" y="3501008"/>
            <a:ext cx="3456384" cy="1296144"/>
          </a:xfrm>
          <a:prstGeom prst="rect">
            <a:avLst/>
          </a:prstGeom>
        </p:spPr>
      </p:pic>
      <p:pic>
        <p:nvPicPr>
          <p:cNvPr id="9" name="Picture 8" descr="Screenshot 2025-11-06 123218.png"/>
          <p:cNvPicPr>
            <a:picLocks noChangeAspect="1"/>
          </p:cNvPicPr>
          <p:nvPr/>
        </p:nvPicPr>
        <p:blipFill>
          <a:blip r:embed="rId5" cstate="print"/>
          <a:stretch>
            <a:fillRect/>
          </a:stretch>
        </p:blipFill>
        <p:spPr>
          <a:xfrm>
            <a:off x="3563888" y="5013176"/>
            <a:ext cx="4896546" cy="1296144"/>
          </a:xfrm>
          <a:prstGeom prst="rect">
            <a:avLst/>
          </a:prstGeom>
        </p:spPr>
      </p:pic>
      <p:cxnSp>
        <p:nvCxnSpPr>
          <p:cNvPr id="11" name="Curved Connector 10"/>
          <p:cNvCxnSpPr/>
          <p:nvPr/>
        </p:nvCxnSpPr>
        <p:spPr>
          <a:xfrm>
            <a:off x="2267744" y="494116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5364088" y="3140968"/>
            <a:ext cx="324036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7030A0"/>
                </a:solidFill>
                <a:latin typeface="Arial" pitchFamily="34" charset="0"/>
                <a:cs typeface="Arial" pitchFamily="34" charset="0"/>
              </a:rPr>
              <a:t> Completed </a:t>
            </a:r>
            <a:r>
              <a:rPr lang="en-US" sz="1400" b="1" dirty="0" smtClean="0">
                <a:solidFill>
                  <a:srgbClr val="7030A0"/>
                </a:solidFill>
                <a:latin typeface="Arial" pitchFamily="34" charset="0"/>
                <a:cs typeface="Arial" pitchFamily="34" charset="0"/>
              </a:rPr>
              <a:t>over 45K rides generating around  </a:t>
            </a:r>
            <a:r>
              <a:rPr lang="en-US" sz="1400" b="1" dirty="0" smtClean="0">
                <a:solidFill>
                  <a:srgbClr val="7030A0"/>
                </a:solidFill>
                <a:latin typeface="Arial" pitchFamily="34" charset="0"/>
                <a:cs typeface="Arial" pitchFamily="34" charset="0"/>
              </a:rPr>
              <a:t>24.4 M  </a:t>
            </a:r>
            <a:r>
              <a:rPr lang="en-US" sz="1400" b="1" dirty="0" smtClean="0">
                <a:solidFill>
                  <a:srgbClr val="7030A0"/>
                </a:solidFill>
                <a:latin typeface="Arial" pitchFamily="34" charset="0"/>
                <a:cs typeface="Arial" pitchFamily="34" charset="0"/>
              </a:rPr>
              <a:t>in total revenue.</a:t>
            </a:r>
            <a:endParaRPr lang="en-US" sz="1400" b="1" dirty="0">
              <a:solidFill>
                <a:srgbClr val="7030A0"/>
              </a:solidFill>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412776"/>
            <a:ext cx="8064896" cy="677937"/>
          </a:xfrm>
        </p:spPr>
        <p:txBody>
          <a:bodyPr>
            <a:noAutofit/>
          </a:bodyPr>
          <a:lstStyle/>
          <a:p>
            <a:r>
              <a:rPr lang="en-US" sz="3600" b="1" dirty="0" smtClean="0">
                <a:latin typeface="Times New Roman" pitchFamily="18" charset="0"/>
                <a:cs typeface="Times New Roman" pitchFamily="18" charset="0"/>
              </a:rPr>
              <a:t>Q2 </a:t>
            </a:r>
            <a:r>
              <a:rPr lang="en-US" sz="3600" b="1" dirty="0" smtClean="0">
                <a:latin typeface="Times New Roman" pitchFamily="18" charset="0"/>
                <a:cs typeface="Times New Roman" pitchFamily="18" charset="0"/>
              </a:rPr>
              <a:t>— Cancelled </a:t>
            </a:r>
            <a:r>
              <a:rPr lang="en-US" sz="3600" b="1" dirty="0" err="1" smtClean="0">
                <a:latin typeface="Times New Roman" pitchFamily="18" charset="0"/>
                <a:cs typeface="Times New Roman" pitchFamily="18" charset="0"/>
              </a:rPr>
              <a:t>vs</a:t>
            </a:r>
            <a:r>
              <a:rPr lang="en-US" sz="3600" b="1" dirty="0" smtClean="0">
                <a:latin typeface="Times New Roman" pitchFamily="18" charset="0"/>
                <a:cs typeface="Times New Roman" pitchFamily="18" charset="0"/>
              </a:rPr>
              <a:t> Completed Rides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Identify how many rides are cancelled </a:t>
            </a:r>
            <a:r>
              <a:rPr lang="en-US" sz="1600" dirty="0" err="1" smtClean="0">
                <a:solidFill>
                  <a:srgbClr val="C00000"/>
                </a:solidFill>
                <a:latin typeface="Arial" pitchFamily="34" charset="0"/>
                <a:cs typeface="Arial" pitchFamily="34" charset="0"/>
              </a:rPr>
              <a:t>vs</a:t>
            </a:r>
            <a:r>
              <a:rPr lang="en-US" sz="1600" dirty="0" smtClean="0">
                <a:solidFill>
                  <a:srgbClr val="C00000"/>
                </a:solidFill>
                <a:latin typeface="Arial" pitchFamily="34" charset="0"/>
                <a:cs typeface="Arial" pitchFamily="34" charset="0"/>
              </a:rPr>
              <a:t> completed.</a:t>
            </a:r>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267744" y="494116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5652120" y="2276872"/>
            <a:ext cx="324036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latin typeface="Arial" pitchFamily="34" charset="0"/>
                <a:cs typeface="Arial" pitchFamily="34" charset="0"/>
              </a:rPr>
              <a:t>About 88% of rides were successfully completed, while 12% were cancelled, indicating strong service reliability.</a:t>
            </a:r>
            <a:endParaRPr lang="en-US" sz="1200" b="1" dirty="0">
              <a:solidFill>
                <a:srgbClr val="7030A0"/>
              </a:solidFill>
              <a:latin typeface="Arial" pitchFamily="34" charset="0"/>
              <a:cs typeface="Arial" pitchFamily="34" charset="0"/>
            </a:endParaRPr>
          </a:p>
        </p:txBody>
      </p:sp>
      <p:pic>
        <p:nvPicPr>
          <p:cNvPr id="10" name="Picture 9" descr="Cancel vs complete.png"/>
          <p:cNvPicPr>
            <a:picLocks noChangeAspect="1"/>
          </p:cNvPicPr>
          <p:nvPr/>
        </p:nvPicPr>
        <p:blipFill>
          <a:blip r:embed="rId4" cstate="print"/>
          <a:stretch>
            <a:fillRect/>
          </a:stretch>
        </p:blipFill>
        <p:spPr>
          <a:xfrm>
            <a:off x="323528" y="3356992"/>
            <a:ext cx="4176464" cy="1157961"/>
          </a:xfrm>
          <a:prstGeom prst="rect">
            <a:avLst/>
          </a:prstGeom>
        </p:spPr>
      </p:pic>
      <p:pic>
        <p:nvPicPr>
          <p:cNvPr id="12" name="Picture 11" descr="Screenshot 2025-11-06 130551.png"/>
          <p:cNvPicPr>
            <a:picLocks noChangeAspect="1"/>
          </p:cNvPicPr>
          <p:nvPr/>
        </p:nvPicPr>
        <p:blipFill>
          <a:blip r:embed="rId5" cstate="print"/>
          <a:stretch>
            <a:fillRect/>
          </a:stretch>
        </p:blipFill>
        <p:spPr>
          <a:xfrm>
            <a:off x="4644008" y="4126087"/>
            <a:ext cx="3672408" cy="25432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Q3 — Top Performing Services by Revenue</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Which service (Bike, Auto, etc.) brings maximum revenue?</a:t>
            </a: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267744" y="494116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6300192" y="2204864"/>
            <a:ext cx="2736304" cy="1800200"/>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smtClean="0">
                <a:solidFill>
                  <a:srgbClr val="7030A0"/>
                </a:solidFill>
                <a:latin typeface="Arial" pitchFamily="34" charset="0"/>
                <a:cs typeface="Arial" pitchFamily="34" charset="0"/>
              </a:rPr>
              <a:t>Rapido</a:t>
            </a:r>
            <a:r>
              <a:rPr lang="en-US" sz="1200" b="1" dirty="0" smtClean="0">
                <a:solidFill>
                  <a:srgbClr val="7030A0"/>
                </a:solidFill>
                <a:latin typeface="Arial" pitchFamily="34" charset="0"/>
                <a:cs typeface="Arial" pitchFamily="34" charset="0"/>
              </a:rPr>
              <a:t> Bike service dominates with the highest number of rides and revenue share among all services.</a:t>
            </a:r>
          </a:p>
          <a:p>
            <a:pPr algn="ctr"/>
            <a:endParaRPr lang="en-US" sz="1200" b="1" dirty="0">
              <a:solidFill>
                <a:srgbClr val="7030A0"/>
              </a:solidFill>
              <a:latin typeface="Arial" pitchFamily="34" charset="0"/>
              <a:cs typeface="Arial" pitchFamily="34" charset="0"/>
            </a:endParaRPr>
          </a:p>
        </p:txBody>
      </p:sp>
      <p:pic>
        <p:nvPicPr>
          <p:cNvPr id="14" name="Picture 13" descr="Top performance.png"/>
          <p:cNvPicPr>
            <a:picLocks noChangeAspect="1"/>
          </p:cNvPicPr>
          <p:nvPr/>
        </p:nvPicPr>
        <p:blipFill>
          <a:blip r:embed="rId4" cstate="print"/>
          <a:stretch>
            <a:fillRect/>
          </a:stretch>
        </p:blipFill>
        <p:spPr>
          <a:xfrm>
            <a:off x="107504" y="3140968"/>
            <a:ext cx="3168352" cy="1584176"/>
          </a:xfrm>
          <a:prstGeom prst="rect">
            <a:avLst/>
          </a:prstGeom>
        </p:spPr>
      </p:pic>
      <p:pic>
        <p:nvPicPr>
          <p:cNvPr id="15" name="Picture 14" descr="Screenshot 2025-11-06 130853.png"/>
          <p:cNvPicPr>
            <a:picLocks noChangeAspect="1"/>
          </p:cNvPicPr>
          <p:nvPr/>
        </p:nvPicPr>
        <p:blipFill>
          <a:blip r:embed="rId5" cstate="print"/>
          <a:stretch>
            <a:fillRect/>
          </a:stretch>
        </p:blipFill>
        <p:spPr>
          <a:xfrm>
            <a:off x="3563888" y="3466806"/>
            <a:ext cx="2735817" cy="33911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Q4 — Average Fare per </a:t>
            </a:r>
            <a:r>
              <a:rPr lang="en-US" sz="3600" b="1" dirty="0" smtClean="0">
                <a:latin typeface="Times New Roman" pitchFamily="18" charset="0"/>
                <a:cs typeface="Times New Roman" pitchFamily="18" charset="0"/>
              </a:rPr>
              <a:t>KM </a:t>
            </a:r>
            <a:r>
              <a:rPr lang="en-US" sz="3600" b="1" dirty="0" smtClean="0">
                <a:latin typeface="Times New Roman" pitchFamily="18" charset="0"/>
                <a:cs typeface="Times New Roman" pitchFamily="18" charset="0"/>
              </a:rPr>
              <a:t>by Service</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Find average fare efficiency per km across service types.</a:t>
            </a: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267744" y="494116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6228184" y="2708920"/>
            <a:ext cx="277180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latin typeface="Arial" pitchFamily="34" charset="0"/>
                <a:cs typeface="Arial" pitchFamily="34" charset="0"/>
              </a:rPr>
              <a:t>Average fare per km is around </a:t>
            </a:r>
            <a:r>
              <a:rPr lang="en-US" sz="1200" b="1" dirty="0" smtClean="0">
                <a:solidFill>
                  <a:srgbClr val="7030A0"/>
                </a:solidFill>
                <a:latin typeface="Arial" pitchFamily="34" charset="0"/>
                <a:cs typeface="Arial" pitchFamily="34" charset="0"/>
              </a:rPr>
              <a:t>₹44, </a:t>
            </a:r>
            <a:r>
              <a:rPr lang="en-US" sz="1200" b="1" dirty="0" smtClean="0">
                <a:solidFill>
                  <a:srgbClr val="7030A0"/>
                </a:solidFill>
                <a:latin typeface="Arial" pitchFamily="34" charset="0"/>
                <a:cs typeface="Arial" pitchFamily="34" charset="0"/>
              </a:rPr>
              <a:t>with Auto rides showing slightly higher fare variation across routes.</a:t>
            </a:r>
            <a:endParaRPr lang="en-US" sz="1200" b="1" dirty="0">
              <a:solidFill>
                <a:srgbClr val="7030A0"/>
              </a:solidFill>
              <a:latin typeface="Arial" pitchFamily="34" charset="0"/>
              <a:cs typeface="Arial" pitchFamily="34" charset="0"/>
            </a:endParaRPr>
          </a:p>
        </p:txBody>
      </p:sp>
      <p:pic>
        <p:nvPicPr>
          <p:cNvPr id="10" name="Picture 9" descr="4.png"/>
          <p:cNvPicPr>
            <a:picLocks noChangeAspect="1"/>
          </p:cNvPicPr>
          <p:nvPr/>
        </p:nvPicPr>
        <p:blipFill>
          <a:blip r:embed="rId4" cstate="print"/>
          <a:stretch>
            <a:fillRect/>
          </a:stretch>
        </p:blipFill>
        <p:spPr>
          <a:xfrm>
            <a:off x="251520" y="3212975"/>
            <a:ext cx="3096344" cy="1671577"/>
          </a:xfrm>
          <a:prstGeom prst="rect">
            <a:avLst/>
          </a:prstGeom>
        </p:spPr>
      </p:pic>
      <p:pic>
        <p:nvPicPr>
          <p:cNvPr id="12" name="Picture 11" descr="Screenshot 2025-11-06 130708.png"/>
          <p:cNvPicPr>
            <a:picLocks noChangeAspect="1"/>
          </p:cNvPicPr>
          <p:nvPr/>
        </p:nvPicPr>
        <p:blipFill>
          <a:blip r:embed="rId5" cstate="print"/>
          <a:stretch>
            <a:fillRect/>
          </a:stretch>
        </p:blipFill>
        <p:spPr>
          <a:xfrm>
            <a:off x="3635896" y="4293096"/>
            <a:ext cx="3210017" cy="22768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Q5 — Peak Ride Hours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Determine when most rides occur.</a:t>
            </a: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267744" y="494116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6228184" y="2708920"/>
            <a:ext cx="277180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latin typeface="Arial" pitchFamily="34" charset="0"/>
                <a:cs typeface="Arial" pitchFamily="34" charset="0"/>
              </a:rPr>
              <a:t>Ride demand peaks during 8–10 AM and 6–8 PM, aligning with daily office commute hours.</a:t>
            </a:r>
            <a:endParaRPr lang="en-US" sz="1200" b="1" dirty="0">
              <a:solidFill>
                <a:srgbClr val="7030A0"/>
              </a:solidFill>
              <a:latin typeface="Arial" pitchFamily="34" charset="0"/>
              <a:cs typeface="Arial" pitchFamily="34" charset="0"/>
            </a:endParaRPr>
          </a:p>
        </p:txBody>
      </p:sp>
      <p:pic>
        <p:nvPicPr>
          <p:cNvPr id="14" name="Picture 13" descr="5.png"/>
          <p:cNvPicPr>
            <a:picLocks noChangeAspect="1"/>
          </p:cNvPicPr>
          <p:nvPr/>
        </p:nvPicPr>
        <p:blipFill>
          <a:blip r:embed="rId4" cstate="print"/>
          <a:stretch>
            <a:fillRect/>
          </a:stretch>
        </p:blipFill>
        <p:spPr>
          <a:xfrm>
            <a:off x="107504" y="3140968"/>
            <a:ext cx="2088232" cy="3528392"/>
          </a:xfrm>
          <a:prstGeom prst="rect">
            <a:avLst/>
          </a:prstGeom>
        </p:spPr>
      </p:pic>
      <p:pic>
        <p:nvPicPr>
          <p:cNvPr id="15" name="Picture 14" descr="Screenshot 2025-11-06 130753.png"/>
          <p:cNvPicPr>
            <a:picLocks noChangeAspect="1"/>
          </p:cNvPicPr>
          <p:nvPr/>
        </p:nvPicPr>
        <p:blipFill>
          <a:blip r:embed="rId5" cstate="print"/>
          <a:stretch>
            <a:fillRect/>
          </a:stretch>
        </p:blipFill>
        <p:spPr>
          <a:xfrm>
            <a:off x="3491880" y="4581128"/>
            <a:ext cx="5483720" cy="20162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Q6 — Busiest Days of the Week</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Which days generate maximum rides and revenue?</a:t>
            </a: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267744" y="494116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6084168" y="2708920"/>
            <a:ext cx="277180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latin typeface="Arial" pitchFamily="34" charset="0"/>
                <a:cs typeface="Arial" pitchFamily="34" charset="0"/>
              </a:rPr>
              <a:t>Tuesday and Monday </a:t>
            </a:r>
            <a:r>
              <a:rPr lang="en-US" sz="1200" b="1" dirty="0" smtClean="0">
                <a:solidFill>
                  <a:srgbClr val="7030A0"/>
                </a:solidFill>
                <a:latin typeface="Arial" pitchFamily="34" charset="0"/>
                <a:cs typeface="Arial" pitchFamily="34" charset="0"/>
              </a:rPr>
              <a:t>record the most rides, showing increased weekend mobility patterns.</a:t>
            </a:r>
            <a:endParaRPr lang="en-US" sz="1200" b="1" dirty="0">
              <a:solidFill>
                <a:srgbClr val="7030A0"/>
              </a:solidFill>
              <a:latin typeface="Arial" pitchFamily="34" charset="0"/>
              <a:cs typeface="Arial" pitchFamily="34" charset="0"/>
            </a:endParaRPr>
          </a:p>
        </p:txBody>
      </p:sp>
      <p:pic>
        <p:nvPicPr>
          <p:cNvPr id="10" name="Picture 9" descr="6.png"/>
          <p:cNvPicPr>
            <a:picLocks noChangeAspect="1"/>
          </p:cNvPicPr>
          <p:nvPr/>
        </p:nvPicPr>
        <p:blipFill>
          <a:blip r:embed="rId4" cstate="print"/>
          <a:stretch>
            <a:fillRect/>
          </a:stretch>
        </p:blipFill>
        <p:spPr>
          <a:xfrm>
            <a:off x="179512" y="3068960"/>
            <a:ext cx="3024336" cy="1734964"/>
          </a:xfrm>
          <a:prstGeom prst="rect">
            <a:avLst/>
          </a:prstGeom>
        </p:spPr>
      </p:pic>
      <p:pic>
        <p:nvPicPr>
          <p:cNvPr id="12" name="Picture 11" descr="Screenshot 2025-11-06 131001.png"/>
          <p:cNvPicPr>
            <a:picLocks noChangeAspect="1"/>
          </p:cNvPicPr>
          <p:nvPr/>
        </p:nvPicPr>
        <p:blipFill>
          <a:blip r:embed="rId5" cstate="print"/>
          <a:stretch>
            <a:fillRect/>
          </a:stretch>
        </p:blipFill>
        <p:spPr>
          <a:xfrm>
            <a:off x="3707904" y="4581128"/>
            <a:ext cx="5233661" cy="21322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Q7 — Revenue Lost Due to Cancellations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Estimate revenue lost from cancelled rides.</a:t>
            </a: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555776" y="4653136"/>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6228184" y="2996952"/>
            <a:ext cx="277180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solidFill>
                  <a:srgbClr val="7030A0"/>
                </a:solidFill>
                <a:latin typeface="Arial" pitchFamily="34" charset="0"/>
                <a:cs typeface="Arial" pitchFamily="34" charset="0"/>
              </a:rPr>
              <a:t>Estimated </a:t>
            </a:r>
            <a:r>
              <a:rPr lang="en-US" sz="1100" b="1" dirty="0" smtClean="0">
                <a:solidFill>
                  <a:srgbClr val="7030A0"/>
                </a:solidFill>
                <a:latin typeface="Arial" pitchFamily="34" charset="0"/>
                <a:cs typeface="Arial" pitchFamily="34" charset="0"/>
              </a:rPr>
              <a:t>24.4 </a:t>
            </a:r>
            <a:r>
              <a:rPr lang="en-US" sz="1100" b="1" dirty="0" err="1" smtClean="0">
                <a:solidFill>
                  <a:srgbClr val="7030A0"/>
                </a:solidFill>
                <a:latin typeface="Arial" pitchFamily="34" charset="0"/>
                <a:cs typeface="Arial" pitchFamily="34" charset="0"/>
              </a:rPr>
              <a:t>lakh</a:t>
            </a:r>
            <a:r>
              <a:rPr lang="en-US" sz="1100" b="1" dirty="0" smtClean="0">
                <a:solidFill>
                  <a:srgbClr val="7030A0"/>
                </a:solidFill>
                <a:latin typeface="Arial" pitchFamily="34" charset="0"/>
                <a:cs typeface="Arial" pitchFamily="34" charset="0"/>
              </a:rPr>
              <a:t> revenue lost due to ride cancellations — improving cancellation handling could recover major revenue.</a:t>
            </a:r>
            <a:endParaRPr lang="en-US" sz="1100" b="1" dirty="0">
              <a:solidFill>
                <a:srgbClr val="7030A0"/>
              </a:solidFill>
              <a:latin typeface="Arial" pitchFamily="34" charset="0"/>
              <a:cs typeface="Arial" pitchFamily="34" charset="0"/>
            </a:endParaRPr>
          </a:p>
        </p:txBody>
      </p:sp>
      <p:pic>
        <p:nvPicPr>
          <p:cNvPr id="14" name="Picture 13" descr="7.png"/>
          <p:cNvPicPr>
            <a:picLocks noChangeAspect="1"/>
          </p:cNvPicPr>
          <p:nvPr/>
        </p:nvPicPr>
        <p:blipFill>
          <a:blip r:embed="rId4" cstate="print"/>
          <a:stretch>
            <a:fillRect/>
          </a:stretch>
        </p:blipFill>
        <p:spPr>
          <a:xfrm>
            <a:off x="107504" y="3356992"/>
            <a:ext cx="4536504" cy="1008112"/>
          </a:xfrm>
          <a:prstGeom prst="rect">
            <a:avLst/>
          </a:prstGeom>
        </p:spPr>
      </p:pic>
      <p:pic>
        <p:nvPicPr>
          <p:cNvPr id="15" name="Picture 14" descr="Screenshot 2025-11-06 131249.png"/>
          <p:cNvPicPr>
            <a:picLocks noChangeAspect="1"/>
          </p:cNvPicPr>
          <p:nvPr/>
        </p:nvPicPr>
        <p:blipFill>
          <a:blip r:embed="rId5" cstate="print"/>
          <a:stretch>
            <a:fillRect/>
          </a:stretch>
        </p:blipFill>
        <p:spPr>
          <a:xfrm>
            <a:off x="4067944" y="4501919"/>
            <a:ext cx="2664296" cy="22394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Q8 — Top Payment Methods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Identify most preferred payment modes.</a:t>
            </a:r>
          </a:p>
          <a:p>
            <a:pPr marL="514350" indent="-514350" algn="just"/>
            <a:endParaRPr lang="en-US" sz="1600" dirty="0" smtClean="0">
              <a:solidFill>
                <a:srgbClr val="C00000"/>
              </a:solidFill>
              <a:latin typeface="Arial" pitchFamily="34" charset="0"/>
              <a:cs typeface="Arial" pitchFamily="34" charset="0"/>
            </a:endParaRP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2735920" y="4725256"/>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5940152" y="2132856"/>
            <a:ext cx="3059832" cy="1728192"/>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latin typeface="Arial" pitchFamily="34" charset="0"/>
                <a:cs typeface="Arial" pitchFamily="34" charset="0"/>
              </a:rPr>
              <a:t>UPI is the most preferred payment mode, followed by Cash, indicating a digital-first customer base.</a:t>
            </a:r>
            <a:endParaRPr lang="en-US" sz="1200" b="1" dirty="0">
              <a:solidFill>
                <a:srgbClr val="7030A0"/>
              </a:solidFill>
              <a:latin typeface="Arial" pitchFamily="34" charset="0"/>
              <a:cs typeface="Arial" pitchFamily="34" charset="0"/>
            </a:endParaRPr>
          </a:p>
        </p:txBody>
      </p:sp>
      <p:pic>
        <p:nvPicPr>
          <p:cNvPr id="10" name="Picture 9" descr="8.png"/>
          <p:cNvPicPr>
            <a:picLocks noChangeAspect="1"/>
          </p:cNvPicPr>
          <p:nvPr/>
        </p:nvPicPr>
        <p:blipFill>
          <a:blip r:embed="rId4" cstate="print"/>
          <a:stretch>
            <a:fillRect/>
          </a:stretch>
        </p:blipFill>
        <p:spPr>
          <a:xfrm>
            <a:off x="323528" y="3155370"/>
            <a:ext cx="3888432" cy="1425758"/>
          </a:xfrm>
          <a:prstGeom prst="rect">
            <a:avLst/>
          </a:prstGeom>
        </p:spPr>
      </p:pic>
      <p:pic>
        <p:nvPicPr>
          <p:cNvPr id="12" name="Picture 11" descr="Screenshot 2025-11-06 131106.png"/>
          <p:cNvPicPr>
            <a:picLocks noChangeAspect="1"/>
          </p:cNvPicPr>
          <p:nvPr/>
        </p:nvPicPr>
        <p:blipFill>
          <a:blip r:embed="rId5" cstate="print"/>
          <a:stretch>
            <a:fillRect/>
          </a:stretch>
        </p:blipFill>
        <p:spPr>
          <a:xfrm>
            <a:off x="4427984" y="3933056"/>
            <a:ext cx="2376264" cy="27140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Q9 — Most Common Routes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Find top 10 frequently travelled routes.</a:t>
            </a:r>
          </a:p>
          <a:p>
            <a:pPr marL="514350" indent="-514350" algn="just"/>
            <a:endParaRPr lang="en-US" sz="1600" dirty="0" smtClean="0">
              <a:solidFill>
                <a:srgbClr val="C00000"/>
              </a:solidFill>
              <a:latin typeface="Arial" pitchFamily="34" charset="0"/>
              <a:cs typeface="Arial" pitchFamily="34" charset="0"/>
            </a:endParaRP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3059832" y="5229200"/>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5508104" y="2204864"/>
            <a:ext cx="3491880" cy="1656184"/>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rgbClr val="7030A0"/>
                </a:solidFill>
                <a:latin typeface="Arial" pitchFamily="34" charset="0"/>
                <a:cs typeface="Arial" pitchFamily="34" charset="0"/>
              </a:rPr>
              <a:t>Top routes include </a:t>
            </a:r>
            <a:r>
              <a:rPr lang="en-US" sz="1400" b="1" dirty="0" err="1" smtClean="0">
                <a:solidFill>
                  <a:srgbClr val="7030A0"/>
                </a:solidFill>
                <a:latin typeface="Arial" pitchFamily="34" charset="0"/>
                <a:cs typeface="Arial" pitchFamily="34" charset="0"/>
              </a:rPr>
              <a:t>Koramangala</a:t>
            </a:r>
            <a:r>
              <a:rPr lang="en-US" sz="1400" b="1" dirty="0" smtClean="0">
                <a:solidFill>
                  <a:srgbClr val="7030A0"/>
                </a:solidFill>
                <a:latin typeface="Arial" pitchFamily="34" charset="0"/>
                <a:cs typeface="Arial" pitchFamily="34" charset="0"/>
              </a:rPr>
              <a:t>, MG </a:t>
            </a:r>
            <a:r>
              <a:rPr lang="en-US" sz="1400" b="1" dirty="0" smtClean="0">
                <a:solidFill>
                  <a:srgbClr val="7030A0"/>
                </a:solidFill>
                <a:latin typeface="Arial" pitchFamily="34" charset="0"/>
                <a:cs typeface="Arial" pitchFamily="34" charset="0"/>
              </a:rPr>
              <a:t>Road and BTM </a:t>
            </a:r>
            <a:r>
              <a:rPr lang="en-US" sz="1400" b="1" dirty="0" smtClean="0">
                <a:solidFill>
                  <a:srgbClr val="7030A0"/>
                </a:solidFill>
                <a:latin typeface="Arial" pitchFamily="34" charset="0"/>
                <a:cs typeface="Arial" pitchFamily="34" charset="0"/>
              </a:rPr>
              <a:t> </a:t>
            </a:r>
            <a:r>
              <a:rPr lang="en-US" sz="1400" b="1" dirty="0" smtClean="0">
                <a:solidFill>
                  <a:srgbClr val="7030A0"/>
                </a:solidFill>
                <a:latin typeface="Arial" pitchFamily="34" charset="0"/>
                <a:cs typeface="Arial" pitchFamily="34" charset="0"/>
              </a:rPr>
              <a:t>showing major commuter corridors.</a:t>
            </a:r>
            <a:endParaRPr lang="en-US" sz="1400" b="1" dirty="0">
              <a:solidFill>
                <a:srgbClr val="7030A0"/>
              </a:solidFill>
              <a:latin typeface="Arial" pitchFamily="34" charset="0"/>
              <a:cs typeface="Arial" pitchFamily="34" charset="0"/>
            </a:endParaRPr>
          </a:p>
        </p:txBody>
      </p:sp>
      <p:pic>
        <p:nvPicPr>
          <p:cNvPr id="14" name="Picture 13" descr="9.png"/>
          <p:cNvPicPr>
            <a:picLocks noChangeAspect="1"/>
          </p:cNvPicPr>
          <p:nvPr/>
        </p:nvPicPr>
        <p:blipFill>
          <a:blip r:embed="rId4" cstate="print"/>
          <a:stretch>
            <a:fillRect/>
          </a:stretch>
        </p:blipFill>
        <p:spPr>
          <a:xfrm>
            <a:off x="179512" y="3140967"/>
            <a:ext cx="3960440" cy="1988141"/>
          </a:xfrm>
          <a:prstGeom prst="rect">
            <a:avLst/>
          </a:prstGeom>
        </p:spPr>
      </p:pic>
      <p:pic>
        <p:nvPicPr>
          <p:cNvPr id="15" name="Picture 14" descr="Screenshot 2025-11-06 131440.png"/>
          <p:cNvPicPr>
            <a:picLocks noChangeAspect="1"/>
          </p:cNvPicPr>
          <p:nvPr/>
        </p:nvPicPr>
        <p:blipFill>
          <a:blip r:embed="rId5" cstate="print"/>
          <a:stretch>
            <a:fillRect/>
          </a:stretch>
        </p:blipFill>
        <p:spPr>
          <a:xfrm>
            <a:off x="4427984" y="4221088"/>
            <a:ext cx="4362924" cy="2488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6552" y="1412776"/>
            <a:ext cx="9865096" cy="677937"/>
          </a:xfrm>
        </p:spPr>
        <p:txBody>
          <a:bodyPr>
            <a:noAutofit/>
          </a:bodyPr>
          <a:lstStyle/>
          <a:p>
            <a:r>
              <a:rPr lang="en-US" sz="3600" b="1" dirty="0" smtClean="0">
                <a:latin typeface="Times New Roman" pitchFamily="18" charset="0"/>
                <a:cs typeface="Times New Roman" pitchFamily="18" charset="0"/>
              </a:rPr>
              <a:t>Q10 — </a:t>
            </a:r>
            <a:r>
              <a:rPr lang="en-US" sz="3600" b="1" dirty="0" err="1" smtClean="0">
                <a:latin typeface="Times New Roman" pitchFamily="18" charset="0"/>
                <a:cs typeface="Times New Roman" pitchFamily="18" charset="0"/>
              </a:rPr>
              <a:t>Avg</a:t>
            </a:r>
            <a:r>
              <a:rPr lang="en-US" sz="3600" b="1" dirty="0" smtClean="0">
                <a:latin typeface="Times New Roman" pitchFamily="18" charset="0"/>
                <a:cs typeface="Times New Roman" pitchFamily="18" charset="0"/>
              </a:rPr>
              <a:t> Duration &amp;</a:t>
            </a:r>
            <a:r>
              <a:rPr lang="en-US" sz="3600" b="1" dirty="0" smtClean="0">
                <a:latin typeface="Times New Roman" pitchFamily="18" charset="0"/>
                <a:cs typeface="Times New Roman" pitchFamily="18" charset="0"/>
              </a:rPr>
              <a:t> </a:t>
            </a:r>
            <a:r>
              <a:rPr lang="en-US" sz="3600" b="1" dirty="0" smtClean="0">
                <a:latin typeface="Times New Roman" pitchFamily="18" charset="0"/>
                <a:cs typeface="Times New Roman" pitchFamily="18" charset="0"/>
              </a:rPr>
              <a:t>Distance by Service</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79512" y="2276872"/>
            <a:ext cx="8676456" cy="4032448"/>
          </a:xfrm>
        </p:spPr>
        <p:txBody>
          <a:bodyPr>
            <a:noAutofit/>
          </a:bodyPr>
          <a:lstStyle/>
          <a:p>
            <a:pPr marL="514350" indent="-514350" algn="just"/>
            <a:r>
              <a:rPr lang="en-IN" sz="2400" b="1" dirty="0" smtClean="0">
                <a:solidFill>
                  <a:schemeClr val="accent2">
                    <a:lumMod val="65000"/>
                    <a:lumOff val="35000"/>
                  </a:schemeClr>
                </a:solidFill>
                <a:latin typeface="Times New Roman" pitchFamily="18" charset="0"/>
                <a:cs typeface="Times New Roman" pitchFamily="18" charset="0"/>
              </a:rPr>
              <a:t>Problem:</a:t>
            </a:r>
          </a:p>
          <a:p>
            <a:pPr marL="514350" indent="-514350" algn="just"/>
            <a:r>
              <a:rPr lang="en-IN" sz="1800" dirty="0" smtClean="0">
                <a:solidFill>
                  <a:schemeClr val="accent2">
                    <a:lumMod val="65000"/>
                    <a:lumOff val="35000"/>
                  </a:schemeClr>
                </a:solidFill>
                <a:latin typeface="Arial" pitchFamily="34" charset="0"/>
                <a:cs typeface="Arial" pitchFamily="34" charset="0"/>
              </a:rPr>
              <a:t>	</a:t>
            </a:r>
            <a:r>
              <a:rPr lang="en-US" sz="1600" dirty="0" smtClean="0">
                <a:solidFill>
                  <a:srgbClr val="C00000"/>
                </a:solidFill>
                <a:latin typeface="Arial" pitchFamily="34" charset="0"/>
                <a:cs typeface="Arial" pitchFamily="34" charset="0"/>
              </a:rPr>
              <a:t>Analyze how service types differ in time and distance per ride.</a:t>
            </a:r>
          </a:p>
          <a:p>
            <a:pPr marL="514350" indent="-514350" algn="just"/>
            <a:endParaRPr lang="en-US" sz="1600" dirty="0" smtClean="0">
              <a:solidFill>
                <a:srgbClr val="C00000"/>
              </a:solidFill>
              <a:latin typeface="Arial" pitchFamily="34" charset="0"/>
              <a:cs typeface="Arial" pitchFamily="34" charset="0"/>
            </a:endParaRPr>
          </a:p>
          <a:p>
            <a:pPr marL="514350" indent="-514350" algn="just"/>
            <a:endParaRPr lang="en-US" sz="1600" dirty="0">
              <a:solidFill>
                <a:srgbClr val="C00000"/>
              </a:solidFill>
              <a:latin typeface="Arial" pitchFamily="34" charset="0"/>
              <a:cs typeface="Arial" pitchFamily="34" charset="0"/>
            </a:endParaRPr>
          </a:p>
        </p:txBody>
      </p:sp>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cxnSp>
        <p:nvCxnSpPr>
          <p:cNvPr id="11" name="Curved Connector 10"/>
          <p:cNvCxnSpPr/>
          <p:nvPr/>
        </p:nvCxnSpPr>
        <p:spPr>
          <a:xfrm>
            <a:off x="3167968" y="5013288"/>
            <a:ext cx="1116000" cy="1008000"/>
          </a:xfrm>
          <a:prstGeom prst="curvedConnector3">
            <a:avLst/>
          </a:prstGeom>
          <a:ln>
            <a:solidFill>
              <a:schemeClr val="accent6">
                <a:lumMod val="75000"/>
              </a:schemeClr>
            </a:solidFill>
            <a:tailEnd type="arrow"/>
          </a:ln>
        </p:spPr>
        <p:style>
          <a:lnRef idx="3">
            <a:schemeClr val="accent6"/>
          </a:lnRef>
          <a:fillRef idx="0">
            <a:schemeClr val="accent6"/>
          </a:fillRef>
          <a:effectRef idx="2">
            <a:schemeClr val="accent6"/>
          </a:effectRef>
          <a:fontRef idx="minor">
            <a:schemeClr val="tx1"/>
          </a:fontRef>
        </p:style>
      </p:cxnSp>
      <p:sp>
        <p:nvSpPr>
          <p:cNvPr id="13" name="Cloud Callout 12"/>
          <p:cNvSpPr/>
          <p:nvPr/>
        </p:nvSpPr>
        <p:spPr>
          <a:xfrm>
            <a:off x="6264696" y="2420888"/>
            <a:ext cx="2771800" cy="1512168"/>
          </a:xfrm>
          <a:prstGeom prst="cloudCallout">
            <a:avLst/>
          </a:prstGeom>
          <a:solidFill>
            <a:schemeClr val="accent1">
              <a:lumMod val="60000"/>
              <a:lumOff val="4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rgbClr val="7030A0"/>
                </a:solidFill>
                <a:latin typeface="Arial" pitchFamily="34" charset="0"/>
                <a:cs typeface="Arial" pitchFamily="34" charset="0"/>
              </a:rPr>
              <a:t>Average ride duration is </a:t>
            </a:r>
            <a:r>
              <a:rPr lang="en-US" sz="1200" b="1" dirty="0" smtClean="0">
                <a:solidFill>
                  <a:srgbClr val="7030A0"/>
                </a:solidFill>
                <a:latin typeface="Arial" pitchFamily="34" charset="0"/>
                <a:cs typeface="Arial" pitchFamily="34" charset="0"/>
              </a:rPr>
              <a:t>63 minutes </a:t>
            </a:r>
            <a:r>
              <a:rPr lang="en-US" sz="1200" b="1" dirty="0" smtClean="0">
                <a:solidFill>
                  <a:srgbClr val="7030A0"/>
                </a:solidFill>
                <a:latin typeface="Arial" pitchFamily="34" charset="0"/>
                <a:cs typeface="Arial" pitchFamily="34" charset="0"/>
              </a:rPr>
              <a:t>covering </a:t>
            </a:r>
            <a:r>
              <a:rPr lang="en-US" sz="1200" b="1" dirty="0" smtClean="0">
                <a:solidFill>
                  <a:srgbClr val="7030A0"/>
                </a:solidFill>
                <a:latin typeface="Arial" pitchFamily="34" charset="0"/>
                <a:cs typeface="Arial" pitchFamily="34" charset="0"/>
              </a:rPr>
              <a:t>25 </a:t>
            </a:r>
            <a:r>
              <a:rPr lang="en-US" sz="1200" b="1" dirty="0" smtClean="0">
                <a:solidFill>
                  <a:srgbClr val="7030A0"/>
                </a:solidFill>
                <a:latin typeface="Arial" pitchFamily="34" charset="0"/>
                <a:cs typeface="Arial" pitchFamily="34" charset="0"/>
              </a:rPr>
              <a:t>km, with longer rides mostly from outer city zones.</a:t>
            </a:r>
            <a:endParaRPr lang="en-US" sz="1200" b="1" dirty="0">
              <a:solidFill>
                <a:srgbClr val="7030A0"/>
              </a:solidFill>
              <a:latin typeface="Arial" pitchFamily="34" charset="0"/>
              <a:cs typeface="Arial" pitchFamily="34" charset="0"/>
            </a:endParaRPr>
          </a:p>
        </p:txBody>
      </p:sp>
      <p:pic>
        <p:nvPicPr>
          <p:cNvPr id="10" name="Picture 9" descr="10.png"/>
          <p:cNvPicPr>
            <a:picLocks noChangeAspect="1"/>
          </p:cNvPicPr>
          <p:nvPr/>
        </p:nvPicPr>
        <p:blipFill>
          <a:blip r:embed="rId4" cstate="print"/>
          <a:stretch>
            <a:fillRect/>
          </a:stretch>
        </p:blipFill>
        <p:spPr>
          <a:xfrm>
            <a:off x="179512" y="3212976"/>
            <a:ext cx="4307658" cy="1584176"/>
          </a:xfrm>
          <a:prstGeom prst="rect">
            <a:avLst/>
          </a:prstGeom>
        </p:spPr>
      </p:pic>
      <p:pic>
        <p:nvPicPr>
          <p:cNvPr id="12" name="Picture 11" descr="Screenshot 2025-11-06 131339.png"/>
          <p:cNvPicPr>
            <a:picLocks noChangeAspect="1"/>
          </p:cNvPicPr>
          <p:nvPr/>
        </p:nvPicPr>
        <p:blipFill>
          <a:blip r:embed="rId5" cstate="print"/>
          <a:stretch>
            <a:fillRect/>
          </a:stretch>
        </p:blipFill>
        <p:spPr>
          <a:xfrm>
            <a:off x="4716016" y="4221088"/>
            <a:ext cx="4176464" cy="22607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pic>
        <p:nvPicPr>
          <p:cNvPr id="8" name="Picture 7" descr="pngegg (31).png"/>
          <p:cNvPicPr>
            <a:picLocks noChangeAspect="1"/>
          </p:cNvPicPr>
          <p:nvPr/>
        </p:nvPicPr>
        <p:blipFill>
          <a:blip r:embed="rId2" cstate="print">
            <a:lum bright="40000" contrast="-40000"/>
          </a:blip>
          <a:stretch>
            <a:fillRect/>
          </a:stretch>
        </p:blipFill>
        <p:spPr>
          <a:xfrm>
            <a:off x="1944216" y="1637928"/>
            <a:ext cx="5220072" cy="5220072"/>
          </a:xfrm>
          <a:prstGeom prst="rect">
            <a:avLst/>
          </a:prstGeom>
        </p:spPr>
      </p:pic>
      <p:sp>
        <p:nvSpPr>
          <p:cNvPr id="2" name="Title 1"/>
          <p:cNvSpPr>
            <a:spLocks noGrp="1"/>
          </p:cNvSpPr>
          <p:nvPr>
            <p:ph type="ctrTitle"/>
          </p:nvPr>
        </p:nvSpPr>
        <p:spPr>
          <a:xfrm>
            <a:off x="1259632" y="1412776"/>
            <a:ext cx="6696744" cy="677937"/>
          </a:xfrm>
        </p:spPr>
        <p:txBody>
          <a:bodyPr>
            <a:noAutofit/>
          </a:bodyPr>
          <a:lstStyle/>
          <a:p>
            <a:r>
              <a:rPr lang="en-US" sz="3600" b="1" dirty="0" smtClean="0">
                <a:latin typeface="Times New Roman" pitchFamily="18" charset="0"/>
                <a:cs typeface="Times New Roman" pitchFamily="18" charset="0"/>
              </a:rPr>
              <a:t>Key Business Recommendations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216024" y="2492896"/>
            <a:ext cx="8676456" cy="4032448"/>
          </a:xfrm>
        </p:spPr>
        <p:txBody>
          <a:bodyPr>
            <a:noAutofit/>
          </a:bodyPr>
          <a:lstStyle/>
          <a:p>
            <a:pPr marL="514350" indent="-514350" algn="just">
              <a:buFont typeface="+mj-lt"/>
              <a:buAutoNum type="arabicPeriod"/>
            </a:pPr>
            <a:r>
              <a:rPr lang="en-US" sz="1800" b="1" dirty="0" smtClean="0">
                <a:solidFill>
                  <a:srgbClr val="C00000"/>
                </a:solidFill>
                <a:latin typeface="Arial" pitchFamily="34" charset="0"/>
                <a:cs typeface="Arial" pitchFamily="34" charset="0"/>
              </a:rPr>
              <a:t>Optimize driver allocation during high-demand hours</a:t>
            </a:r>
            <a:r>
              <a:rPr lang="en-US" sz="1800" dirty="0" smtClean="0">
                <a:solidFill>
                  <a:srgbClr val="C00000"/>
                </a:solidFill>
                <a:latin typeface="Arial" pitchFamily="34" charset="0"/>
                <a:cs typeface="Arial" pitchFamily="34" charset="0"/>
              </a:rPr>
              <a:t> </a:t>
            </a:r>
            <a:r>
              <a:rPr lang="en-US" sz="1800" dirty="0" smtClean="0">
                <a:solidFill>
                  <a:schemeClr val="tx1"/>
                </a:solidFill>
                <a:latin typeface="Arial" pitchFamily="34" charset="0"/>
                <a:cs typeface="Arial" pitchFamily="34" charset="0"/>
              </a:rPr>
              <a:t>to reduce waiting time and increase ride completion rates</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rgbClr val="C00000"/>
                </a:solidFill>
                <a:latin typeface="Arial" pitchFamily="34" charset="0"/>
                <a:cs typeface="Arial" pitchFamily="34" charset="0"/>
              </a:rPr>
              <a:t>Introduce performance-based incentives</a:t>
            </a:r>
            <a:r>
              <a:rPr lang="en-US" sz="1800" dirty="0" smtClean="0">
                <a:solidFill>
                  <a:srgbClr val="C00000"/>
                </a:solidFill>
                <a:latin typeface="Arial" pitchFamily="34" charset="0"/>
                <a:cs typeface="Arial" pitchFamily="34" charset="0"/>
              </a:rPr>
              <a:t> </a:t>
            </a:r>
            <a:r>
              <a:rPr lang="en-US" sz="1800" dirty="0" smtClean="0">
                <a:solidFill>
                  <a:schemeClr val="tx1"/>
                </a:solidFill>
                <a:latin typeface="Arial" pitchFamily="34" charset="0"/>
                <a:cs typeface="Arial" pitchFamily="34" charset="0"/>
              </a:rPr>
              <a:t>for drivers and customers to encourage timely rides and higher satisfaction</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rgbClr val="C00000"/>
                </a:solidFill>
                <a:latin typeface="Arial" pitchFamily="34" charset="0"/>
                <a:cs typeface="Arial" pitchFamily="34" charset="0"/>
              </a:rPr>
              <a:t>Enhance digital payment adoption</a:t>
            </a:r>
            <a:r>
              <a:rPr lang="en-US" sz="1800" dirty="0" smtClean="0">
                <a:solidFill>
                  <a:srgbClr val="C00000"/>
                </a:solidFill>
                <a:latin typeface="Arial" pitchFamily="34" charset="0"/>
                <a:cs typeface="Arial" pitchFamily="34" charset="0"/>
              </a:rPr>
              <a:t> </a:t>
            </a:r>
            <a:r>
              <a:rPr lang="en-US" sz="1800" dirty="0" smtClean="0">
                <a:solidFill>
                  <a:schemeClr val="tx1"/>
                </a:solidFill>
                <a:latin typeface="Arial" pitchFamily="34" charset="0"/>
                <a:cs typeface="Arial" pitchFamily="34" charset="0"/>
              </a:rPr>
              <a:t>through </a:t>
            </a:r>
            <a:r>
              <a:rPr lang="en-US" sz="1800" dirty="0" err="1" smtClean="0">
                <a:solidFill>
                  <a:schemeClr val="tx1"/>
                </a:solidFill>
                <a:latin typeface="Arial" pitchFamily="34" charset="0"/>
                <a:cs typeface="Arial" pitchFamily="34" charset="0"/>
              </a:rPr>
              <a:t>cashback</a:t>
            </a:r>
            <a:r>
              <a:rPr lang="en-US" sz="1800" dirty="0" smtClean="0">
                <a:solidFill>
                  <a:schemeClr val="tx1"/>
                </a:solidFill>
                <a:latin typeface="Arial" pitchFamily="34" charset="0"/>
                <a:cs typeface="Arial" pitchFamily="34" charset="0"/>
              </a:rPr>
              <a:t> or discount campaigns to improve transaction efficiency and transparency</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rgbClr val="C00000"/>
                </a:solidFill>
                <a:latin typeface="Arial" pitchFamily="34" charset="0"/>
                <a:cs typeface="Arial" pitchFamily="34" charset="0"/>
              </a:rPr>
              <a:t>Leverage route analytics</a:t>
            </a:r>
            <a:r>
              <a:rPr lang="en-US" sz="1800" dirty="0" smtClean="0">
                <a:solidFill>
                  <a:srgbClr val="C00000"/>
                </a:solidFill>
                <a:latin typeface="Arial" pitchFamily="34" charset="0"/>
                <a:cs typeface="Arial" pitchFamily="34" charset="0"/>
              </a:rPr>
              <a:t> </a:t>
            </a:r>
            <a:r>
              <a:rPr lang="en-US" sz="1800" dirty="0" smtClean="0">
                <a:solidFill>
                  <a:schemeClr val="tx1"/>
                </a:solidFill>
                <a:latin typeface="Arial" pitchFamily="34" charset="0"/>
                <a:cs typeface="Arial" pitchFamily="34" charset="0"/>
              </a:rPr>
              <a:t>to strengthen marketing and operational focus on high-performing corridors</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rgbClr val="C00000"/>
                </a:solidFill>
                <a:latin typeface="Arial" pitchFamily="34" charset="0"/>
                <a:cs typeface="Arial" pitchFamily="34" charset="0"/>
              </a:rPr>
              <a:t>Refine fare strategies</a:t>
            </a:r>
            <a:r>
              <a:rPr lang="en-US" sz="1800" dirty="0" smtClean="0">
                <a:solidFill>
                  <a:srgbClr val="C00000"/>
                </a:solidFill>
                <a:latin typeface="Arial" pitchFamily="34" charset="0"/>
                <a:cs typeface="Arial" pitchFamily="34" charset="0"/>
              </a:rPr>
              <a:t> </a:t>
            </a:r>
            <a:r>
              <a:rPr lang="en-US" sz="1800" dirty="0" smtClean="0">
                <a:solidFill>
                  <a:schemeClr val="tx1"/>
                </a:solidFill>
                <a:latin typeface="Arial" pitchFamily="34" charset="0"/>
                <a:cs typeface="Arial" pitchFamily="34" charset="0"/>
              </a:rPr>
              <a:t>using per-kilometer and time-based insights to maintain competitive yet profitable pricing.</a:t>
            </a:r>
            <a:endParaRPr lang="en-US" sz="1800" dirty="0">
              <a:solidFill>
                <a:schemeClr val="tx1"/>
              </a:solidFill>
              <a:latin typeface="Arial" pitchFamily="34" charset="0"/>
              <a:cs typeface="Arial" pitchFamily="34" charset="0"/>
            </a:endParaRPr>
          </a:p>
        </p:txBody>
      </p:sp>
      <p:pic>
        <p:nvPicPr>
          <p:cNvPr id="6" name="Picture 5" descr="images-removebg-preview.png"/>
          <p:cNvPicPr>
            <a:picLocks noChangeAspect="1"/>
          </p:cNvPicPr>
          <p:nvPr/>
        </p:nvPicPr>
        <p:blipFill>
          <a:blip r:embed="rId3"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4" cstate="print"/>
          <a:stretch>
            <a:fillRect/>
          </a:stretch>
        </p:blipFill>
        <p:spPr>
          <a:xfrm>
            <a:off x="3347864" y="116632"/>
            <a:ext cx="2209800" cy="13258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pic>
        <p:nvPicPr>
          <p:cNvPr id="8" name="Picture 7" descr="pngegg (32).png"/>
          <p:cNvPicPr>
            <a:picLocks noChangeAspect="1"/>
          </p:cNvPicPr>
          <p:nvPr/>
        </p:nvPicPr>
        <p:blipFill>
          <a:blip r:embed="rId2" cstate="print">
            <a:lum bright="40000" contrast="-40000"/>
          </a:blip>
          <a:stretch>
            <a:fillRect/>
          </a:stretch>
        </p:blipFill>
        <p:spPr>
          <a:xfrm>
            <a:off x="4355976" y="1679455"/>
            <a:ext cx="4651264" cy="4773881"/>
          </a:xfrm>
          <a:prstGeom prst="rect">
            <a:avLst/>
          </a:prstGeom>
        </p:spPr>
      </p:pic>
      <p:sp>
        <p:nvSpPr>
          <p:cNvPr id="2" name="Title 1"/>
          <p:cNvSpPr>
            <a:spLocks noGrp="1"/>
          </p:cNvSpPr>
          <p:nvPr>
            <p:ph type="ctrTitle"/>
          </p:nvPr>
        </p:nvSpPr>
        <p:spPr>
          <a:xfrm>
            <a:off x="1907704" y="1556792"/>
            <a:ext cx="5040560" cy="677937"/>
          </a:xfrm>
        </p:spPr>
        <p:txBody>
          <a:bodyPr>
            <a:normAutofit/>
          </a:bodyPr>
          <a:lstStyle/>
          <a:p>
            <a:r>
              <a:rPr lang="en-US" sz="3600" b="1" dirty="0" smtClean="0">
                <a:latin typeface="Times New Roman" pitchFamily="18" charset="0"/>
                <a:cs typeface="Times New Roman" pitchFamily="18" charset="0"/>
              </a:rPr>
              <a:t>Strategic Takeaways</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288032" y="2492896"/>
            <a:ext cx="8676456" cy="4032448"/>
          </a:xfrm>
        </p:spPr>
        <p:txBody>
          <a:bodyPr>
            <a:noAutofit/>
          </a:bodyPr>
          <a:lstStyle/>
          <a:p>
            <a:pPr marL="514350" indent="-514350" algn="just">
              <a:buFont typeface="+mj-lt"/>
              <a:buAutoNum type="arabicPeriod"/>
            </a:pPr>
            <a:r>
              <a:rPr lang="en-US" sz="1800" dirty="0" smtClean="0">
                <a:solidFill>
                  <a:schemeClr val="tx1"/>
                </a:solidFill>
                <a:latin typeface="Arial" pitchFamily="34" charset="0"/>
                <a:cs typeface="Arial" pitchFamily="34" charset="0"/>
              </a:rPr>
              <a:t>The analysis uncovered </a:t>
            </a:r>
            <a:r>
              <a:rPr lang="en-US" sz="1800" b="1" dirty="0" smtClean="0">
                <a:solidFill>
                  <a:schemeClr val="tx1"/>
                </a:solidFill>
                <a:latin typeface="Arial" pitchFamily="34" charset="0"/>
                <a:cs typeface="Arial" pitchFamily="34" charset="0"/>
              </a:rPr>
              <a:t>key demand trends, revenue drivers, and operational inefficiencies</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chemeClr val="tx1"/>
                </a:solidFill>
                <a:latin typeface="Arial" pitchFamily="34" charset="0"/>
                <a:cs typeface="Arial" pitchFamily="34" charset="0"/>
              </a:rPr>
              <a:t>Data-driven </a:t>
            </a:r>
            <a:r>
              <a:rPr lang="en-US" sz="1800" b="1" dirty="0" smtClean="0">
                <a:solidFill>
                  <a:schemeClr val="tx1"/>
                </a:solidFill>
                <a:latin typeface="Arial" pitchFamily="34" charset="0"/>
                <a:cs typeface="Arial" pitchFamily="34" charset="0"/>
              </a:rPr>
              <a:t>insights</a:t>
            </a:r>
            <a:r>
              <a:rPr lang="en-US" sz="1800" dirty="0" smtClean="0">
                <a:solidFill>
                  <a:schemeClr val="tx1"/>
                </a:solidFill>
                <a:latin typeface="Arial" pitchFamily="34" charset="0"/>
                <a:cs typeface="Arial" pitchFamily="34" charset="0"/>
              </a:rPr>
              <a:t> enable better decision-making across pricing, operations, and customer engagement</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chemeClr val="tx1"/>
                </a:solidFill>
                <a:latin typeface="Arial" pitchFamily="34" charset="0"/>
                <a:cs typeface="Arial" pitchFamily="34" charset="0"/>
              </a:rPr>
              <a:t>SQL queries</a:t>
            </a:r>
            <a:r>
              <a:rPr lang="en-US" sz="1800" dirty="0" smtClean="0">
                <a:solidFill>
                  <a:schemeClr val="tx1"/>
                </a:solidFill>
                <a:latin typeface="Arial" pitchFamily="34" charset="0"/>
                <a:cs typeface="Arial" pitchFamily="34" charset="0"/>
              </a:rPr>
              <a:t> simplified the process of cleaning and extracting actionable business data</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b="1" dirty="0" smtClean="0">
                <a:solidFill>
                  <a:schemeClr val="tx1"/>
                </a:solidFill>
                <a:latin typeface="Arial" pitchFamily="34" charset="0"/>
                <a:cs typeface="Arial" pitchFamily="34" charset="0"/>
              </a:rPr>
              <a:t>Power BI visualizations</a:t>
            </a:r>
            <a:r>
              <a:rPr lang="en-US" sz="1800" dirty="0" smtClean="0">
                <a:solidFill>
                  <a:schemeClr val="tx1"/>
                </a:solidFill>
                <a:latin typeface="Arial" pitchFamily="34" charset="0"/>
                <a:cs typeface="Arial" pitchFamily="34" charset="0"/>
              </a:rPr>
              <a:t> transformed complex metrics into clear, impactful dashboards</a:t>
            </a:r>
            <a:r>
              <a:rPr lang="en-US" sz="1800" dirty="0" smtClean="0">
                <a:solidFill>
                  <a:schemeClr val="tx1"/>
                </a:solidFill>
                <a:latin typeface="Arial" pitchFamily="34" charset="0"/>
                <a:cs typeface="Arial" pitchFamily="34" charset="0"/>
              </a:rPr>
              <a:t>.</a:t>
            </a:r>
          </a:p>
          <a:p>
            <a:pPr marL="514350" indent="-514350" algn="just">
              <a:buFont typeface="+mj-lt"/>
              <a:buAutoNum type="arabicPeriod"/>
            </a:pPr>
            <a:r>
              <a:rPr lang="en-US" sz="1800" dirty="0" smtClean="0">
                <a:solidFill>
                  <a:schemeClr val="tx1"/>
                </a:solidFill>
                <a:latin typeface="Arial" pitchFamily="34" charset="0"/>
                <a:cs typeface="Arial" pitchFamily="34" charset="0"/>
              </a:rPr>
              <a:t>The project demonstrates how </a:t>
            </a:r>
            <a:r>
              <a:rPr lang="en-US" sz="1800" b="1" dirty="0" smtClean="0">
                <a:solidFill>
                  <a:schemeClr val="tx1"/>
                </a:solidFill>
                <a:latin typeface="Arial" pitchFamily="34" charset="0"/>
                <a:cs typeface="Arial" pitchFamily="34" charset="0"/>
              </a:rPr>
              <a:t>data analytics can directly enhance </a:t>
            </a:r>
            <a:r>
              <a:rPr lang="en-US" sz="1800" b="1" dirty="0" err="1" smtClean="0">
                <a:solidFill>
                  <a:schemeClr val="tx1"/>
                </a:solidFill>
                <a:latin typeface="Arial" pitchFamily="34" charset="0"/>
                <a:cs typeface="Arial" pitchFamily="34" charset="0"/>
              </a:rPr>
              <a:t>Rapido’s</a:t>
            </a:r>
            <a:r>
              <a:rPr lang="en-US" sz="1800" b="1" dirty="0" smtClean="0">
                <a:solidFill>
                  <a:schemeClr val="tx1"/>
                </a:solidFill>
                <a:latin typeface="Arial" pitchFamily="34" charset="0"/>
                <a:cs typeface="Arial" pitchFamily="34" charset="0"/>
              </a:rPr>
              <a:t> efficiency, profitability, and customer experience</a:t>
            </a:r>
            <a:r>
              <a:rPr lang="en-US" sz="1800" dirty="0" smtClean="0">
                <a:solidFill>
                  <a:schemeClr val="tx1"/>
                </a:solidFill>
                <a:latin typeface="Arial" pitchFamily="34" charset="0"/>
                <a:cs typeface="Arial" pitchFamily="34" charset="0"/>
              </a:rPr>
              <a:t>.</a:t>
            </a:r>
          </a:p>
          <a:p>
            <a:pPr marL="514350" indent="-514350" algn="just"/>
            <a:endParaRPr lang="en-US" sz="1800" dirty="0">
              <a:solidFill>
                <a:schemeClr val="accent2">
                  <a:lumMod val="65000"/>
                  <a:lumOff val="35000"/>
                </a:schemeClr>
              </a:solidFill>
              <a:latin typeface="Arial" pitchFamily="34" charset="0"/>
              <a:cs typeface="Arial" pitchFamily="34" charset="0"/>
            </a:endParaRPr>
          </a:p>
        </p:txBody>
      </p:sp>
      <p:pic>
        <p:nvPicPr>
          <p:cNvPr id="6" name="Picture 5" descr="images-removebg-preview.png"/>
          <p:cNvPicPr>
            <a:picLocks noChangeAspect="1"/>
          </p:cNvPicPr>
          <p:nvPr/>
        </p:nvPicPr>
        <p:blipFill>
          <a:blip r:embed="rId3"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4" cstate="print"/>
          <a:stretch>
            <a:fillRect/>
          </a:stretch>
        </p:blipFill>
        <p:spPr>
          <a:xfrm>
            <a:off x="3347864" y="116632"/>
            <a:ext cx="2209800" cy="1325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pic>
        <p:nvPicPr>
          <p:cNvPr id="6" name="Picture 5" descr="images-removebg-preview.png"/>
          <p:cNvPicPr>
            <a:picLocks noChangeAspect="1"/>
          </p:cNvPicPr>
          <p:nvPr/>
        </p:nvPicPr>
        <p:blipFill>
          <a:blip r:embed="rId2" cstate="print"/>
          <a:stretch>
            <a:fillRect/>
          </a:stretch>
        </p:blipFill>
        <p:spPr>
          <a:xfrm>
            <a:off x="0" y="260648"/>
            <a:ext cx="1617536" cy="1008112"/>
          </a:xfrm>
          <a:prstGeom prst="rect">
            <a:avLst/>
          </a:prstGeom>
        </p:spPr>
      </p:pic>
      <p:pic>
        <p:nvPicPr>
          <p:cNvPr id="7" name="Picture 6" descr="download-removebg-preview.png"/>
          <p:cNvPicPr>
            <a:picLocks noChangeAspect="1"/>
          </p:cNvPicPr>
          <p:nvPr/>
        </p:nvPicPr>
        <p:blipFill>
          <a:blip r:embed="rId3" cstate="print"/>
          <a:stretch>
            <a:fillRect/>
          </a:stretch>
        </p:blipFill>
        <p:spPr>
          <a:xfrm>
            <a:off x="3347864" y="116632"/>
            <a:ext cx="2209800" cy="1325880"/>
          </a:xfrm>
          <a:prstGeom prst="rect">
            <a:avLst/>
          </a:prstGeom>
        </p:spPr>
      </p:pic>
      <p:sp>
        <p:nvSpPr>
          <p:cNvPr id="8" name="Title 7"/>
          <p:cNvSpPr>
            <a:spLocks noGrp="1"/>
          </p:cNvSpPr>
          <p:nvPr>
            <p:ph type="title"/>
          </p:nvPr>
        </p:nvSpPr>
        <p:spPr>
          <a:xfrm>
            <a:off x="-1929408" y="2934072"/>
            <a:ext cx="8229600" cy="1143000"/>
          </a:xfrm>
        </p:spPr>
        <p:txBody>
          <a:bodyPr>
            <a:normAutofit/>
          </a:bodyPr>
          <a:lstStyle/>
          <a:p>
            <a:r>
              <a:rPr lang="en-IN" sz="5400" b="1" dirty="0" smtClean="0">
                <a:latin typeface="Times New Roman" pitchFamily="18" charset="0"/>
                <a:cs typeface="Times New Roman" pitchFamily="18" charset="0"/>
              </a:rPr>
              <a:t>Thank you…</a:t>
            </a:r>
            <a:endParaRPr lang="en-US" sz="5400" b="1" dirty="0">
              <a:latin typeface="Times New Roman" pitchFamily="18" charset="0"/>
              <a:cs typeface="Times New Roman" pitchFamily="18" charset="0"/>
            </a:endParaRPr>
          </a:p>
        </p:txBody>
      </p:sp>
      <p:pic>
        <p:nvPicPr>
          <p:cNvPr id="9" name="Picture 8" descr="pngegg (30).png"/>
          <p:cNvPicPr>
            <a:picLocks noChangeAspect="1"/>
          </p:cNvPicPr>
          <p:nvPr/>
        </p:nvPicPr>
        <p:blipFill>
          <a:blip r:embed="rId4" cstate="print"/>
          <a:stretch>
            <a:fillRect/>
          </a:stretch>
        </p:blipFill>
        <p:spPr>
          <a:xfrm>
            <a:off x="4274840" y="1475656"/>
            <a:ext cx="4833664" cy="4833664"/>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1F497D"/>
      </a:dk2>
      <a:lt2>
        <a:srgbClr val="EEECE1"/>
      </a:lt2>
      <a:accent1>
        <a:srgbClr val="FFFF00"/>
      </a:accent1>
      <a:accent2>
        <a:srgbClr val="0000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717</TotalTime>
  <Words>646</Words>
  <Application>Microsoft Office PowerPoint</Application>
  <PresentationFormat>On-screen Show (4:3)</PresentationFormat>
  <Paragraphs>92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Riders Data Analysis</vt:lpstr>
      <vt:lpstr>Overview</vt:lpstr>
      <vt:lpstr>Data Preparation Workflow</vt:lpstr>
      <vt:lpstr> Business Problems Analyzed</vt:lpstr>
      <vt:lpstr>Q1 — Total Rides &amp; Total Revenue</vt:lpstr>
      <vt:lpstr>Q2 — Cancelled vs Completed Rides</vt:lpstr>
      <vt:lpstr>Q3 — Top Performing Services by Revenue</vt:lpstr>
      <vt:lpstr>Q4 — Average Fare per KM by Service</vt:lpstr>
      <vt:lpstr>Q5 — Peak Ride Hours</vt:lpstr>
      <vt:lpstr>Q6 — Busiest Days of the Week</vt:lpstr>
      <vt:lpstr>Q7 — Revenue Lost Due to Cancellations</vt:lpstr>
      <vt:lpstr>Q8 — Top Payment Methods</vt:lpstr>
      <vt:lpstr>Q9 — Most Common Routes</vt:lpstr>
      <vt:lpstr>Q10 — Avg Duration &amp; Distance by Service</vt:lpstr>
      <vt:lpstr>Key Business Recommendations</vt:lpstr>
      <vt:lpstr>Strategic Takeaways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sainanthan</dc:creator>
  <cp:lastModifiedBy>sainanthan</cp:lastModifiedBy>
  <cp:revision>33</cp:revision>
  <dcterms:created xsi:type="dcterms:W3CDTF">2025-11-05T14:36:06Z</dcterms:created>
  <dcterms:modified xsi:type="dcterms:W3CDTF">2025-11-06T15:50:21Z</dcterms:modified>
</cp:coreProperties>
</file>